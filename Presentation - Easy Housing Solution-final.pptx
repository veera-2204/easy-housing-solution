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ITC Motter Corpus Semicondensed" panose="020B0604020202020204" charset="0"/>
      <p:regular r:id="rId14"/>
    </p:embeddedFont>
    <p:embeddedFont>
      <p:font typeface="Rubik" panose="020B0604020202020204" charset="-79"/>
      <p:regular r:id="rId15"/>
    </p:embeddedFont>
    <p:embeddedFont>
      <p:font typeface="Rubik Bold" panose="020B0604020202020204" charset="-79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F9B36F-4F98-E883-1DAE-F16CBFC7CB28}" v="88" dt="2025-08-26T05:27:30.301"/>
    <p1510:client id="{E8DAE207-4C57-F9BF-A747-236C04FFFAF4}" v="1" dt="2025-08-26T05:28:28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, Bhake" userId="S::bhake.shashank@capgemini.com::bfe15747-5e5e-46f8-899e-e58839485f69" providerId="AD" clId="Web-{42F9B36F-4F98-E883-1DAE-F16CBFC7CB28}"/>
    <pc:docChg chg="modSld">
      <pc:chgData name="Shashank, Bhake" userId="S::bhake.shashank@capgemini.com::bfe15747-5e5e-46f8-899e-e58839485f69" providerId="AD" clId="Web-{42F9B36F-4F98-E883-1DAE-F16CBFC7CB28}" dt="2025-08-26T05:27:28.848" v="44" actId="20577"/>
      <pc:docMkLst>
        <pc:docMk/>
      </pc:docMkLst>
      <pc:sldChg chg="modSp">
        <pc:chgData name="Shashank, Bhake" userId="S::bhake.shashank@capgemini.com::bfe15747-5e5e-46f8-899e-e58839485f69" providerId="AD" clId="Web-{42F9B36F-4F98-E883-1DAE-F16CBFC7CB28}" dt="2025-08-26T05:27:28.848" v="44" actId="20577"/>
        <pc:sldMkLst>
          <pc:docMk/>
          <pc:sldMk cId="0" sldId="264"/>
        </pc:sldMkLst>
        <pc:spChg chg="mod">
          <ac:chgData name="Shashank, Bhake" userId="S::bhake.shashank@capgemini.com::bfe15747-5e5e-46f8-899e-e58839485f69" providerId="AD" clId="Web-{42F9B36F-4F98-E883-1DAE-F16CBFC7CB28}" dt="2025-08-26T05:27:28.848" v="44" actId="20577"/>
          <ac:spMkLst>
            <pc:docMk/>
            <pc:sldMk cId="0" sldId="264"/>
            <ac:spMk id="13" creationId="{00000000-0000-0000-0000-000000000000}"/>
          </ac:spMkLst>
        </pc:spChg>
      </pc:sldChg>
      <pc:sldChg chg="addSp delSp modSp">
        <pc:chgData name="Shashank, Bhake" userId="S::bhake.shashank@capgemini.com::bfe15747-5e5e-46f8-899e-e58839485f69" providerId="AD" clId="Web-{42F9B36F-4F98-E883-1DAE-F16CBFC7CB28}" dt="2025-08-26T05:25:55.659" v="9" actId="1076"/>
        <pc:sldMkLst>
          <pc:docMk/>
          <pc:sldMk cId="0" sldId="265"/>
        </pc:sldMkLst>
        <pc:picChg chg="add mod">
          <ac:chgData name="Shashank, Bhake" userId="S::bhake.shashank@capgemini.com::bfe15747-5e5e-46f8-899e-e58839485f69" providerId="AD" clId="Web-{42F9B36F-4F98-E883-1DAE-F16CBFC7CB28}" dt="2025-08-26T05:25:55.659" v="9" actId="1076"/>
          <ac:picMkLst>
            <pc:docMk/>
            <pc:sldMk cId="0" sldId="265"/>
            <ac:picMk id="22" creationId="{2E7867BC-1693-4E91-BDAA-370009B2CD65}"/>
          </ac:picMkLst>
        </pc:picChg>
        <pc:picChg chg="del mod">
          <ac:chgData name="Shashank, Bhake" userId="S::bhake.shashank@capgemini.com::bfe15747-5e5e-46f8-899e-e58839485f69" providerId="AD" clId="Web-{42F9B36F-4F98-E883-1DAE-F16CBFC7CB28}" dt="2025-08-26T05:25:14.392" v="2"/>
          <ac:picMkLst>
            <pc:docMk/>
            <pc:sldMk cId="0" sldId="265"/>
            <ac:picMk id="25" creationId="{3C0C839F-FC00-952E-1131-7A3BFECFBAAC}"/>
          </ac:picMkLst>
        </pc:picChg>
      </pc:sldChg>
      <pc:sldChg chg="modSp">
        <pc:chgData name="Shashank, Bhake" userId="S::bhake.shashank@capgemini.com::bfe15747-5e5e-46f8-899e-e58839485f69" providerId="AD" clId="Web-{42F9B36F-4F98-E883-1DAE-F16CBFC7CB28}" dt="2025-08-26T05:26:51.847" v="31" actId="20577"/>
        <pc:sldMkLst>
          <pc:docMk/>
          <pc:sldMk cId="0" sldId="266"/>
        </pc:sldMkLst>
        <pc:spChg chg="mod">
          <ac:chgData name="Shashank, Bhake" userId="S::bhake.shashank@capgemini.com::bfe15747-5e5e-46f8-899e-e58839485f69" providerId="AD" clId="Web-{42F9B36F-4F98-E883-1DAE-F16CBFC7CB28}" dt="2025-08-26T05:26:51.847" v="31" actId="20577"/>
          <ac:spMkLst>
            <pc:docMk/>
            <pc:sldMk cId="0" sldId="266"/>
            <ac:spMk id="13" creationId="{00000000-0000-0000-0000-000000000000}"/>
          </ac:spMkLst>
        </pc:spChg>
      </pc:sldChg>
      <pc:sldChg chg="modSp">
        <pc:chgData name="Shashank, Bhake" userId="S::bhake.shashank@capgemini.com::bfe15747-5e5e-46f8-899e-e58839485f69" providerId="AD" clId="Web-{42F9B36F-4F98-E883-1DAE-F16CBFC7CB28}" dt="2025-08-26T05:27:06.020" v="33" actId="1076"/>
        <pc:sldMkLst>
          <pc:docMk/>
          <pc:sldMk cId="0" sldId="267"/>
        </pc:sldMkLst>
        <pc:picChg chg="mod">
          <ac:chgData name="Shashank, Bhake" userId="S::bhake.shashank@capgemini.com::bfe15747-5e5e-46f8-899e-e58839485f69" providerId="AD" clId="Web-{42F9B36F-4F98-E883-1DAE-F16CBFC7CB28}" dt="2025-08-26T05:27:06.020" v="33" actId="1076"/>
          <ac:picMkLst>
            <pc:docMk/>
            <pc:sldMk cId="0" sldId="267"/>
            <ac:picMk id="9" creationId="{00000000-0000-0000-0000-000000000000}"/>
          </ac:picMkLst>
        </pc:picChg>
      </pc:sldChg>
    </pc:docChg>
  </pc:docChgLst>
  <pc:docChgLst>
    <pc:chgData name="Gupta, Om" userId="S::om.a.gupta@capgemini.com::f1407ea3-3a34-42ce-8fce-a85fc8446fa4" providerId="AD" clId="Web-{E8DAE207-4C57-F9BF-A747-236C04FFFAF4}"/>
    <pc:docChg chg="modSld">
      <pc:chgData name="Gupta, Om" userId="S::om.a.gupta@capgemini.com::f1407ea3-3a34-42ce-8fce-a85fc8446fa4" providerId="AD" clId="Web-{E8DAE207-4C57-F9BF-A747-236C04FFFAF4}" dt="2025-08-26T05:28:28.292" v="0" actId="1076"/>
      <pc:docMkLst>
        <pc:docMk/>
      </pc:docMkLst>
      <pc:sldChg chg="modSp">
        <pc:chgData name="Gupta, Om" userId="S::om.a.gupta@capgemini.com::f1407ea3-3a34-42ce-8fce-a85fc8446fa4" providerId="AD" clId="Web-{E8DAE207-4C57-F9BF-A747-236C04FFFAF4}" dt="2025-08-26T05:28:28.292" v="0" actId="1076"/>
        <pc:sldMkLst>
          <pc:docMk/>
          <pc:sldMk cId="0" sldId="262"/>
        </pc:sldMkLst>
        <pc:spChg chg="mod">
          <ac:chgData name="Gupta, Om" userId="S::om.a.gupta@capgemini.com::f1407ea3-3a34-42ce-8fce-a85fc8446fa4" providerId="AD" clId="Web-{E8DAE207-4C57-F9BF-A747-236C04FFFAF4}" dt="2025-08-26T05:28:28.292" v="0" actId="1076"/>
          <ac:spMkLst>
            <pc:docMk/>
            <pc:sldMk cId="0" sldId="262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svg"/><Relationship Id="rId7" Type="http://schemas.openxmlformats.org/officeDocument/2006/relationships/image" Target="../media/image2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9.svg"/><Relationship Id="rId7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11.svg"/><Relationship Id="rId10" Type="http://schemas.openxmlformats.org/officeDocument/2006/relationships/image" Target="../media/image28.svg"/><Relationship Id="rId4" Type="http://schemas.openxmlformats.org/officeDocument/2006/relationships/image" Target="../media/image10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10" Type="http://schemas.openxmlformats.org/officeDocument/2006/relationships/image" Target="../media/image37.sv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11" Type="http://schemas.openxmlformats.org/officeDocument/2006/relationships/image" Target="../media/image43.png"/><Relationship Id="rId5" Type="http://schemas.openxmlformats.org/officeDocument/2006/relationships/image" Target="../media/image36.png"/><Relationship Id="rId10" Type="http://schemas.openxmlformats.org/officeDocument/2006/relationships/image" Target="../media/image34.svg"/><Relationship Id="rId4" Type="http://schemas.openxmlformats.org/officeDocument/2006/relationships/image" Target="../media/image40.sv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7" Type="http://schemas.openxmlformats.org/officeDocument/2006/relationships/hyperlink" Target="https://ezhousinginstance-a0gyh3f3ceb9dec7.eastus2-01.azurewebsites.net/" TargetMode="Externa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856731"/>
            <a:ext cx="3822584" cy="2430269"/>
            <a:chOff x="0" y="0"/>
            <a:chExt cx="1079249" cy="686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9249" cy="686150"/>
            </a:xfrm>
            <a:custGeom>
              <a:avLst/>
              <a:gdLst/>
              <a:ahLst/>
              <a:cxnLst/>
              <a:rect l="l" t="t" r="r" b="b"/>
              <a:pathLst>
                <a:path w="1079249" h="686150">
                  <a:moveTo>
                    <a:pt x="0" y="0"/>
                  </a:moveTo>
                  <a:lnTo>
                    <a:pt x="1079249" y="0"/>
                  </a:lnTo>
                  <a:lnTo>
                    <a:pt x="1079249" y="686150"/>
                  </a:lnTo>
                  <a:lnTo>
                    <a:pt x="0" y="686150"/>
                  </a:lnTo>
                  <a:close/>
                </a:path>
              </a:pathLst>
            </a:custGeom>
            <a:solidFill>
              <a:srgbClr val="0328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79249" cy="724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808954"/>
            <a:ext cx="3822584" cy="4047778"/>
            <a:chOff x="0" y="0"/>
            <a:chExt cx="881425" cy="9333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1425" cy="933351"/>
            </a:xfrm>
            <a:custGeom>
              <a:avLst/>
              <a:gdLst/>
              <a:ahLst/>
              <a:cxnLst/>
              <a:rect l="l" t="t" r="r" b="b"/>
              <a:pathLst>
                <a:path w="881425" h="933351">
                  <a:moveTo>
                    <a:pt x="0" y="0"/>
                  </a:moveTo>
                  <a:lnTo>
                    <a:pt x="881425" y="0"/>
                  </a:lnTo>
                  <a:lnTo>
                    <a:pt x="881425" y="933351"/>
                  </a:lnTo>
                  <a:lnTo>
                    <a:pt x="0" y="933351"/>
                  </a:lnTo>
                  <a:close/>
                </a:path>
              </a:pathLst>
            </a:custGeom>
            <a:solidFill>
              <a:srgbClr val="2C4B7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81425" cy="97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3822584" cy="3928366"/>
            <a:chOff x="0" y="0"/>
            <a:chExt cx="881425" cy="9058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1425" cy="905817"/>
            </a:xfrm>
            <a:custGeom>
              <a:avLst/>
              <a:gdLst/>
              <a:ahLst/>
              <a:cxnLst/>
              <a:rect l="l" t="t" r="r" b="b"/>
              <a:pathLst>
                <a:path w="881425" h="905817">
                  <a:moveTo>
                    <a:pt x="0" y="0"/>
                  </a:moveTo>
                  <a:lnTo>
                    <a:pt x="881425" y="0"/>
                  </a:lnTo>
                  <a:lnTo>
                    <a:pt x="881425" y="905817"/>
                  </a:lnTo>
                  <a:lnTo>
                    <a:pt x="0" y="905817"/>
                  </a:lnTo>
                  <a:close/>
                </a:path>
              </a:pathLst>
            </a:custGeom>
            <a:solidFill>
              <a:srgbClr val="0328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81425" cy="943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07630" y="360521"/>
            <a:ext cx="3207324" cy="3207324"/>
          </a:xfrm>
          <a:custGeom>
            <a:avLst/>
            <a:gdLst/>
            <a:ahLst/>
            <a:cxnLst/>
            <a:rect l="l" t="t" r="r" b="b"/>
            <a:pathLst>
              <a:path w="3207324" h="3207324">
                <a:moveTo>
                  <a:pt x="0" y="0"/>
                </a:moveTo>
                <a:lnTo>
                  <a:pt x="3207324" y="0"/>
                </a:lnTo>
                <a:lnTo>
                  <a:pt x="3207324" y="3207324"/>
                </a:lnTo>
                <a:lnTo>
                  <a:pt x="0" y="3207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43987" y="4125244"/>
            <a:ext cx="3534609" cy="3534609"/>
          </a:xfrm>
          <a:custGeom>
            <a:avLst/>
            <a:gdLst/>
            <a:ahLst/>
            <a:cxnLst/>
            <a:rect l="l" t="t" r="r" b="b"/>
            <a:pathLst>
              <a:path w="3534609" h="3534609">
                <a:moveTo>
                  <a:pt x="0" y="0"/>
                </a:moveTo>
                <a:lnTo>
                  <a:pt x="3534609" y="0"/>
                </a:lnTo>
                <a:lnTo>
                  <a:pt x="3534609" y="3534609"/>
                </a:lnTo>
                <a:lnTo>
                  <a:pt x="0" y="3534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 rot="-5400000">
            <a:off x="973120" y="7448111"/>
            <a:ext cx="1876343" cy="3335721"/>
          </a:xfrm>
          <a:custGeom>
            <a:avLst/>
            <a:gdLst/>
            <a:ahLst/>
            <a:cxnLst/>
            <a:rect l="l" t="t" r="r" b="b"/>
            <a:pathLst>
              <a:path w="1876343" h="3335721">
                <a:moveTo>
                  <a:pt x="0" y="0"/>
                </a:moveTo>
                <a:lnTo>
                  <a:pt x="1876343" y="0"/>
                </a:lnTo>
                <a:lnTo>
                  <a:pt x="1876343" y="3335721"/>
                </a:lnTo>
                <a:lnTo>
                  <a:pt x="0" y="3335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3023253" y="4898009"/>
            <a:ext cx="5294683" cy="5388991"/>
          </a:xfrm>
          <a:custGeom>
            <a:avLst/>
            <a:gdLst/>
            <a:ahLst/>
            <a:cxnLst/>
            <a:rect l="l" t="t" r="r" b="b"/>
            <a:pathLst>
              <a:path w="5294683" h="5388991">
                <a:moveTo>
                  <a:pt x="0" y="0"/>
                </a:moveTo>
                <a:lnTo>
                  <a:pt x="5294683" y="0"/>
                </a:lnTo>
                <a:lnTo>
                  <a:pt x="5294683" y="5388991"/>
                </a:lnTo>
                <a:lnTo>
                  <a:pt x="0" y="53889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5338553" y="3410700"/>
            <a:ext cx="10332041" cy="4043200"/>
            <a:chOff x="0" y="0"/>
            <a:chExt cx="13776055" cy="5390934"/>
          </a:xfrm>
        </p:grpSpPr>
        <p:sp>
          <p:nvSpPr>
            <p:cNvPr id="16" name="TextBox 16"/>
            <p:cNvSpPr txBox="1"/>
            <p:nvPr/>
          </p:nvSpPr>
          <p:spPr>
            <a:xfrm>
              <a:off x="0" y="4683332"/>
              <a:ext cx="13776055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 by Group 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13776055" cy="41416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440"/>
                </a:lnSpc>
              </a:pPr>
              <a:r>
                <a:rPr lang="en-US" sz="10400">
                  <a:solidFill>
                    <a:srgbClr val="000000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Easy Housing Solution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1082" y="8078155"/>
            <a:ext cx="5840542" cy="2236463"/>
            <a:chOff x="0" y="0"/>
            <a:chExt cx="1538250" cy="5890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8250" cy="589027"/>
            </a:xfrm>
            <a:custGeom>
              <a:avLst/>
              <a:gdLst/>
              <a:ahLst/>
              <a:cxnLst/>
              <a:rect l="l" t="t" r="r" b="b"/>
              <a:pathLst>
                <a:path w="1538250" h="589027">
                  <a:moveTo>
                    <a:pt x="0" y="0"/>
                  </a:moveTo>
                  <a:lnTo>
                    <a:pt x="1538250" y="0"/>
                  </a:lnTo>
                  <a:lnTo>
                    <a:pt x="1538250" y="589027"/>
                  </a:lnTo>
                  <a:lnTo>
                    <a:pt x="0" y="589027"/>
                  </a:lnTo>
                  <a:close/>
                </a:path>
              </a:pathLst>
            </a:custGeom>
            <a:solidFill>
              <a:srgbClr val="6DE1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538250" cy="636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011624" y="8078155"/>
            <a:ext cx="2276376" cy="2208845"/>
            <a:chOff x="0" y="0"/>
            <a:chExt cx="599539" cy="5817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9539" cy="581753"/>
            </a:xfrm>
            <a:custGeom>
              <a:avLst/>
              <a:gdLst/>
              <a:ahLst/>
              <a:cxnLst/>
              <a:rect l="l" t="t" r="r" b="b"/>
              <a:pathLst>
                <a:path w="599539" h="581753">
                  <a:moveTo>
                    <a:pt x="0" y="0"/>
                  </a:moveTo>
                  <a:lnTo>
                    <a:pt x="599539" y="0"/>
                  </a:lnTo>
                  <a:lnTo>
                    <a:pt x="599539" y="581753"/>
                  </a:lnTo>
                  <a:lnTo>
                    <a:pt x="0" y="581753"/>
                  </a:lnTo>
                  <a:close/>
                </a:path>
              </a:pathLst>
            </a:custGeom>
            <a:solidFill>
              <a:srgbClr val="92A0B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9539" cy="619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220748" y="8253514"/>
            <a:ext cx="1858127" cy="1858127"/>
          </a:xfrm>
          <a:custGeom>
            <a:avLst/>
            <a:gdLst/>
            <a:ahLst/>
            <a:cxnLst/>
            <a:rect l="l" t="t" r="r" b="b"/>
            <a:pathLst>
              <a:path w="1858127" h="1858127">
                <a:moveTo>
                  <a:pt x="0" y="0"/>
                </a:moveTo>
                <a:lnTo>
                  <a:pt x="1858128" y="0"/>
                </a:lnTo>
                <a:lnTo>
                  <a:pt x="1858128" y="1858127"/>
                </a:lnTo>
                <a:lnTo>
                  <a:pt x="0" y="1858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-5400000">
            <a:off x="11607940" y="7099748"/>
            <a:ext cx="2966825" cy="5274356"/>
          </a:xfrm>
          <a:custGeom>
            <a:avLst/>
            <a:gdLst/>
            <a:ahLst/>
            <a:cxnLst/>
            <a:rect l="l" t="t" r="r" b="b"/>
            <a:pathLst>
              <a:path w="2966825" h="5274356">
                <a:moveTo>
                  <a:pt x="0" y="0"/>
                </a:moveTo>
                <a:lnTo>
                  <a:pt x="2966825" y="0"/>
                </a:lnTo>
                <a:lnTo>
                  <a:pt x="2966825" y="5274356"/>
                </a:lnTo>
                <a:lnTo>
                  <a:pt x="0" y="5274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0074472" y="-170988"/>
            <a:ext cx="8813494" cy="8229600"/>
          </a:xfrm>
          <a:custGeom>
            <a:avLst/>
            <a:gdLst/>
            <a:ahLst/>
            <a:cxnLst/>
            <a:rect l="l" t="t" r="r" b="b"/>
            <a:pathLst>
              <a:path w="8813494" h="8229600">
                <a:moveTo>
                  <a:pt x="0" y="0"/>
                </a:moveTo>
                <a:lnTo>
                  <a:pt x="8813494" y="0"/>
                </a:lnTo>
                <a:lnTo>
                  <a:pt x="881349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0171082" y="-106959"/>
            <a:ext cx="8116918" cy="8116918"/>
          </a:xfrm>
          <a:custGeom>
            <a:avLst/>
            <a:gdLst/>
            <a:ahLst/>
            <a:cxnLst/>
            <a:rect l="l" t="t" r="r" b="b"/>
            <a:pathLst>
              <a:path w="8116918" h="8116918">
                <a:moveTo>
                  <a:pt x="0" y="0"/>
                </a:moveTo>
                <a:lnTo>
                  <a:pt x="8116918" y="0"/>
                </a:lnTo>
                <a:lnTo>
                  <a:pt x="8116918" y="8116918"/>
                </a:lnTo>
                <a:lnTo>
                  <a:pt x="0" y="81169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1028700" y="3154785"/>
            <a:ext cx="6133971" cy="5621772"/>
            <a:chOff x="0" y="-85725"/>
            <a:chExt cx="8178628" cy="749569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3617051"/>
              <a:ext cx="6924907" cy="379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Shashank </a:t>
              </a:r>
              <a:r>
                <a:rPr lang="en-US" sz="2300" err="1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Bhake</a:t>
              </a:r>
              <a:endParaRPr lang="en-US" sz="23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Aarushi Goyal</a:t>
              </a:r>
            </a:p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Veera Vardhan </a:t>
              </a:r>
              <a:r>
                <a:rPr lang="en-US" sz="2300" err="1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Addala</a:t>
              </a:r>
              <a:endParaRPr lang="en-US" sz="23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Om Gupta</a:t>
              </a:r>
            </a:p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Nishant Dhupia</a:t>
              </a:r>
            </a:p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Sai Shanmukh </a:t>
              </a:r>
              <a:r>
                <a:rPr lang="en-US" sz="2300" err="1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Kundam</a:t>
              </a:r>
              <a:endParaRPr lang="en-US" sz="23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Nikhil Pratap Singh Rathore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8178628" cy="3379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349"/>
                </a:lnSpc>
              </a:pPr>
              <a:r>
                <a:rPr lang="en-US" sz="8499">
                  <a:solidFill>
                    <a:srgbClr val="000000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Meet the Team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050857"/>
            <a:ext cx="5089657" cy="1238721"/>
            <a:chOff x="0" y="0"/>
            <a:chExt cx="2390308" cy="5817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90308" cy="581753"/>
            </a:xfrm>
            <a:custGeom>
              <a:avLst/>
              <a:gdLst/>
              <a:ahLst/>
              <a:cxnLst/>
              <a:rect l="l" t="t" r="r" b="b"/>
              <a:pathLst>
                <a:path w="2390308" h="581753">
                  <a:moveTo>
                    <a:pt x="0" y="0"/>
                  </a:moveTo>
                  <a:lnTo>
                    <a:pt x="2390308" y="0"/>
                  </a:lnTo>
                  <a:lnTo>
                    <a:pt x="2390308" y="581753"/>
                  </a:lnTo>
                  <a:lnTo>
                    <a:pt x="0" y="581753"/>
                  </a:lnTo>
                  <a:close/>
                </a:path>
              </a:pathLst>
            </a:custGeom>
            <a:solidFill>
              <a:srgbClr val="2C4B7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390308" cy="6293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760372" y="2579"/>
            <a:ext cx="7850029" cy="8577081"/>
          </a:xfrm>
          <a:custGeom>
            <a:avLst/>
            <a:gdLst/>
            <a:ahLst/>
            <a:cxnLst/>
            <a:rect l="l" t="t" r="r" b="b"/>
            <a:pathLst>
              <a:path w="7850029" h="8577081">
                <a:moveTo>
                  <a:pt x="0" y="0"/>
                </a:moveTo>
                <a:lnTo>
                  <a:pt x="7850029" y="0"/>
                </a:lnTo>
                <a:lnTo>
                  <a:pt x="7850029" y="8577080"/>
                </a:lnTo>
                <a:lnTo>
                  <a:pt x="0" y="8577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5" r="-6037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6066059" y="4537238"/>
            <a:ext cx="11397139" cy="4721062"/>
            <a:chOff x="0" y="0"/>
            <a:chExt cx="15196185" cy="629474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4668388" cy="2108747"/>
              <a:chOff x="0" y="0"/>
              <a:chExt cx="922151" cy="416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922151" cy="416543"/>
              </a:xfrm>
              <a:custGeom>
                <a:avLst/>
                <a:gdLst/>
                <a:ahLst/>
                <a:cxnLst/>
                <a:rect l="l" t="t" r="r" b="b"/>
                <a:pathLst>
                  <a:path w="922151" h="416543">
                    <a:moveTo>
                      <a:pt x="0" y="0"/>
                    </a:moveTo>
                    <a:lnTo>
                      <a:pt x="922151" y="0"/>
                    </a:lnTo>
                    <a:lnTo>
                      <a:pt x="922151" y="416543"/>
                    </a:lnTo>
                    <a:lnTo>
                      <a:pt x="0" y="416543"/>
                    </a:lnTo>
                    <a:close/>
                  </a:path>
                </a:pathLst>
              </a:custGeom>
              <a:solidFill>
                <a:srgbClr val="2C4B73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57150"/>
                <a:ext cx="922151" cy="4736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067865" y="524742"/>
              <a:ext cx="2532658" cy="957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BUYERS' NEEDS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0" y="2108747"/>
              <a:ext cx="4668388" cy="2093001"/>
              <a:chOff x="0" y="0"/>
              <a:chExt cx="922151" cy="41343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22151" cy="413432"/>
              </a:xfrm>
              <a:custGeom>
                <a:avLst/>
                <a:gdLst/>
                <a:ahLst/>
                <a:cxnLst/>
                <a:rect l="l" t="t" r="r" b="b"/>
                <a:pathLst>
                  <a:path w="922151" h="413432">
                    <a:moveTo>
                      <a:pt x="0" y="0"/>
                    </a:moveTo>
                    <a:lnTo>
                      <a:pt x="922151" y="0"/>
                    </a:lnTo>
                    <a:lnTo>
                      <a:pt x="922151" y="413432"/>
                    </a:lnTo>
                    <a:lnTo>
                      <a:pt x="0" y="413432"/>
                    </a:lnTo>
                    <a:close/>
                  </a:path>
                </a:pathLst>
              </a:custGeom>
              <a:solidFill>
                <a:srgbClr val="2C4B73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922151" cy="4705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039588" y="2633489"/>
              <a:ext cx="2589212" cy="957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SELLERS' NEEDS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0" y="4201748"/>
              <a:ext cx="4668388" cy="2093001"/>
              <a:chOff x="0" y="0"/>
              <a:chExt cx="922151" cy="41343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922151" cy="413432"/>
              </a:xfrm>
              <a:custGeom>
                <a:avLst/>
                <a:gdLst/>
                <a:ahLst/>
                <a:cxnLst/>
                <a:rect l="l" t="t" r="r" b="b"/>
                <a:pathLst>
                  <a:path w="922151" h="413432">
                    <a:moveTo>
                      <a:pt x="0" y="0"/>
                    </a:moveTo>
                    <a:lnTo>
                      <a:pt x="922151" y="0"/>
                    </a:lnTo>
                    <a:lnTo>
                      <a:pt x="922151" y="413432"/>
                    </a:lnTo>
                    <a:lnTo>
                      <a:pt x="0" y="413432"/>
                    </a:lnTo>
                    <a:close/>
                  </a:path>
                </a:pathLst>
              </a:custGeom>
              <a:solidFill>
                <a:srgbClr val="92A0B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57150"/>
                <a:ext cx="922151" cy="4705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037901" y="4726490"/>
              <a:ext cx="2592586" cy="957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ADMIN FEATURES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4668388" y="0"/>
              <a:ext cx="10527798" cy="2119351"/>
              <a:chOff x="0" y="0"/>
              <a:chExt cx="2079565" cy="41863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079565" cy="418637"/>
              </a:xfrm>
              <a:custGeom>
                <a:avLst/>
                <a:gdLst/>
                <a:ahLst/>
                <a:cxnLst/>
                <a:rect l="l" t="t" r="r" b="b"/>
                <a:pathLst>
                  <a:path w="2079565" h="418637">
                    <a:moveTo>
                      <a:pt x="0" y="0"/>
                    </a:moveTo>
                    <a:lnTo>
                      <a:pt x="2079565" y="0"/>
                    </a:lnTo>
                    <a:lnTo>
                      <a:pt x="2079565" y="418637"/>
                    </a:lnTo>
                    <a:lnTo>
                      <a:pt x="0" y="418637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2079565" cy="4757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5369748" y="610256"/>
              <a:ext cx="9125077" cy="824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Buyers require </a:t>
              </a:r>
              <a:r>
                <a:rPr lang="en-US" sz="1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easy access</a:t>
              </a:r>
              <a:r>
                <a:rPr lang="en-US" sz="18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 to listings and tools for comparing properties.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4668388" y="2108747"/>
              <a:ext cx="10527798" cy="2108747"/>
              <a:chOff x="0" y="0"/>
              <a:chExt cx="2079565" cy="41654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079565" cy="416543"/>
              </a:xfrm>
              <a:custGeom>
                <a:avLst/>
                <a:gdLst/>
                <a:ahLst/>
                <a:cxnLst/>
                <a:rect l="l" t="t" r="r" b="b"/>
                <a:pathLst>
                  <a:path w="2079565" h="416543">
                    <a:moveTo>
                      <a:pt x="0" y="0"/>
                    </a:moveTo>
                    <a:lnTo>
                      <a:pt x="2079565" y="0"/>
                    </a:lnTo>
                    <a:lnTo>
                      <a:pt x="2079565" y="416543"/>
                    </a:lnTo>
                    <a:lnTo>
                      <a:pt x="0" y="416543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57150"/>
                <a:ext cx="2079565" cy="4736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5369748" y="2719003"/>
              <a:ext cx="9125077" cy="824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Sellers need a </a:t>
              </a:r>
              <a:r>
                <a:rPr lang="en-US" sz="1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streamlined process</a:t>
              </a:r>
              <a:r>
                <a:rPr lang="en-US" sz="18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 for listing properties and managing inquiries.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4668388" y="4186002"/>
              <a:ext cx="10527798" cy="2108747"/>
              <a:chOff x="0" y="0"/>
              <a:chExt cx="2079565" cy="41654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079565" cy="416543"/>
              </a:xfrm>
              <a:custGeom>
                <a:avLst/>
                <a:gdLst/>
                <a:ahLst/>
                <a:cxnLst/>
                <a:rect l="l" t="t" r="r" b="b"/>
                <a:pathLst>
                  <a:path w="2079565" h="416543">
                    <a:moveTo>
                      <a:pt x="0" y="0"/>
                    </a:moveTo>
                    <a:lnTo>
                      <a:pt x="2079565" y="0"/>
                    </a:lnTo>
                    <a:lnTo>
                      <a:pt x="2079565" y="416543"/>
                    </a:lnTo>
                    <a:lnTo>
                      <a:pt x="0" y="416543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57150"/>
                <a:ext cx="2079565" cy="4736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5369748" y="4772551"/>
              <a:ext cx="9125077" cy="872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Admins must ensure </a:t>
              </a:r>
              <a:r>
                <a:rPr lang="en-US" sz="1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smooth operations</a:t>
              </a:r>
              <a:r>
                <a:rPr lang="en-US" sz="19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 and maintain user data security.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0" y="2579"/>
            <a:ext cx="5089657" cy="9048279"/>
          </a:xfrm>
          <a:custGeom>
            <a:avLst/>
            <a:gdLst/>
            <a:ahLst/>
            <a:cxnLst/>
            <a:rect l="l" t="t" r="r" b="b"/>
            <a:pathLst>
              <a:path w="5089657" h="9048279">
                <a:moveTo>
                  <a:pt x="0" y="0"/>
                </a:moveTo>
                <a:lnTo>
                  <a:pt x="5089657" y="0"/>
                </a:lnTo>
                <a:lnTo>
                  <a:pt x="5089657" y="9048278"/>
                </a:lnTo>
                <a:lnTo>
                  <a:pt x="0" y="90482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>
            <a:off x="503431" y="9144949"/>
            <a:ext cx="1050538" cy="1050538"/>
          </a:xfrm>
          <a:custGeom>
            <a:avLst/>
            <a:gdLst/>
            <a:ahLst/>
            <a:cxnLst/>
            <a:rect l="l" t="t" r="r" b="b"/>
            <a:pathLst>
              <a:path w="1050538" h="1050538">
                <a:moveTo>
                  <a:pt x="0" y="0"/>
                </a:moveTo>
                <a:lnTo>
                  <a:pt x="1050538" y="0"/>
                </a:lnTo>
                <a:lnTo>
                  <a:pt x="1050538" y="1050538"/>
                </a:lnTo>
                <a:lnTo>
                  <a:pt x="0" y="10505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 rot="-5400000">
            <a:off x="3473550" y="8736406"/>
            <a:ext cx="1050538" cy="1867624"/>
          </a:xfrm>
          <a:custGeom>
            <a:avLst/>
            <a:gdLst/>
            <a:ahLst/>
            <a:cxnLst/>
            <a:rect l="l" t="t" r="r" b="b"/>
            <a:pathLst>
              <a:path w="1050538" h="1867624">
                <a:moveTo>
                  <a:pt x="0" y="0"/>
                </a:moveTo>
                <a:lnTo>
                  <a:pt x="1050539" y="0"/>
                </a:lnTo>
                <a:lnTo>
                  <a:pt x="1050539" y="1867624"/>
                </a:lnTo>
                <a:lnTo>
                  <a:pt x="0" y="18676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TextBox 34"/>
          <p:cNvSpPr txBox="1"/>
          <p:nvPr/>
        </p:nvSpPr>
        <p:spPr>
          <a:xfrm>
            <a:off x="6066059" y="952500"/>
            <a:ext cx="9902362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50"/>
              </a:lnSpc>
            </a:pPr>
            <a:r>
              <a:rPr lang="en-US" sz="7500">
                <a:solidFill>
                  <a:srgbClr val="FFFFF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Problem Statement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66059" y="2617213"/>
            <a:ext cx="11397139" cy="1417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7"/>
              </a:lnSpc>
              <a:spcBef>
                <a:spcPct val="0"/>
              </a:spcBef>
            </a:pPr>
            <a:r>
              <a:rPr lang="en-US" sz="269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Easy Housing Solution (EHS) is an online platform for buying, selling, and renting properties, where users can manage listings, upload images, and get them verified for a seamless experience.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1082" y="8078155"/>
            <a:ext cx="5840542" cy="2236463"/>
            <a:chOff x="0" y="0"/>
            <a:chExt cx="1538250" cy="5890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8250" cy="589027"/>
            </a:xfrm>
            <a:custGeom>
              <a:avLst/>
              <a:gdLst/>
              <a:ahLst/>
              <a:cxnLst/>
              <a:rect l="l" t="t" r="r" b="b"/>
              <a:pathLst>
                <a:path w="1538250" h="589027">
                  <a:moveTo>
                    <a:pt x="0" y="0"/>
                  </a:moveTo>
                  <a:lnTo>
                    <a:pt x="1538250" y="0"/>
                  </a:lnTo>
                  <a:lnTo>
                    <a:pt x="1538250" y="589027"/>
                  </a:lnTo>
                  <a:lnTo>
                    <a:pt x="0" y="589027"/>
                  </a:lnTo>
                  <a:close/>
                </a:path>
              </a:pathLst>
            </a:custGeom>
            <a:solidFill>
              <a:srgbClr val="6DE1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538250" cy="636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011624" y="8078155"/>
            <a:ext cx="2276376" cy="2208845"/>
            <a:chOff x="0" y="0"/>
            <a:chExt cx="599539" cy="5817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9539" cy="581753"/>
            </a:xfrm>
            <a:custGeom>
              <a:avLst/>
              <a:gdLst/>
              <a:ahLst/>
              <a:cxnLst/>
              <a:rect l="l" t="t" r="r" b="b"/>
              <a:pathLst>
                <a:path w="599539" h="581753">
                  <a:moveTo>
                    <a:pt x="0" y="0"/>
                  </a:moveTo>
                  <a:lnTo>
                    <a:pt x="599539" y="0"/>
                  </a:lnTo>
                  <a:lnTo>
                    <a:pt x="599539" y="581753"/>
                  </a:lnTo>
                  <a:lnTo>
                    <a:pt x="0" y="581753"/>
                  </a:lnTo>
                  <a:close/>
                </a:path>
              </a:pathLst>
            </a:custGeom>
            <a:solidFill>
              <a:srgbClr val="92A0B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9539" cy="619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220748" y="8253514"/>
            <a:ext cx="1858127" cy="1858127"/>
          </a:xfrm>
          <a:custGeom>
            <a:avLst/>
            <a:gdLst/>
            <a:ahLst/>
            <a:cxnLst/>
            <a:rect l="l" t="t" r="r" b="b"/>
            <a:pathLst>
              <a:path w="1858127" h="1858127">
                <a:moveTo>
                  <a:pt x="0" y="0"/>
                </a:moveTo>
                <a:lnTo>
                  <a:pt x="1858128" y="0"/>
                </a:lnTo>
                <a:lnTo>
                  <a:pt x="1858128" y="1858127"/>
                </a:lnTo>
                <a:lnTo>
                  <a:pt x="0" y="1858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-5400000">
            <a:off x="11607940" y="7099748"/>
            <a:ext cx="2966825" cy="5274356"/>
          </a:xfrm>
          <a:custGeom>
            <a:avLst/>
            <a:gdLst/>
            <a:ahLst/>
            <a:cxnLst/>
            <a:rect l="l" t="t" r="r" b="b"/>
            <a:pathLst>
              <a:path w="2966825" h="5274356">
                <a:moveTo>
                  <a:pt x="0" y="0"/>
                </a:moveTo>
                <a:lnTo>
                  <a:pt x="2966825" y="0"/>
                </a:lnTo>
                <a:lnTo>
                  <a:pt x="2966825" y="5274356"/>
                </a:lnTo>
                <a:lnTo>
                  <a:pt x="0" y="5274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10346726" y="88052"/>
            <a:ext cx="7833825" cy="7795092"/>
            <a:chOff x="0" y="0"/>
            <a:chExt cx="2063230" cy="20530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63230" cy="2053028"/>
            </a:xfrm>
            <a:custGeom>
              <a:avLst/>
              <a:gdLst/>
              <a:ahLst/>
              <a:cxnLst/>
              <a:rect l="l" t="t" r="r" b="b"/>
              <a:pathLst>
                <a:path w="2063230" h="2053028">
                  <a:moveTo>
                    <a:pt x="0" y="0"/>
                  </a:moveTo>
                  <a:lnTo>
                    <a:pt x="2063230" y="0"/>
                  </a:lnTo>
                  <a:lnTo>
                    <a:pt x="2063230" y="2053028"/>
                  </a:lnTo>
                  <a:lnTo>
                    <a:pt x="0" y="2053028"/>
                  </a:ln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063230" cy="2100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238051" y="2139670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6" y="0"/>
                </a:lnTo>
                <a:lnTo>
                  <a:pt x="60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0171082" y="-106959"/>
            <a:ext cx="8185114" cy="8185114"/>
          </a:xfrm>
          <a:custGeom>
            <a:avLst/>
            <a:gdLst/>
            <a:ahLst/>
            <a:cxnLst/>
            <a:rect l="l" t="t" r="r" b="b"/>
            <a:pathLst>
              <a:path w="8185114" h="8185114">
                <a:moveTo>
                  <a:pt x="0" y="0"/>
                </a:moveTo>
                <a:lnTo>
                  <a:pt x="8185114" y="0"/>
                </a:lnTo>
                <a:lnTo>
                  <a:pt x="8185114" y="8185114"/>
                </a:lnTo>
                <a:lnTo>
                  <a:pt x="0" y="81851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751421" y="994535"/>
            <a:ext cx="8213564" cy="8697981"/>
            <a:chOff x="0" y="0"/>
            <a:chExt cx="10951419" cy="11597308"/>
          </a:xfrm>
        </p:grpSpPr>
        <p:sp>
          <p:nvSpPr>
            <p:cNvPr id="16" name="TextBox 16"/>
            <p:cNvSpPr txBox="1"/>
            <p:nvPr/>
          </p:nvSpPr>
          <p:spPr>
            <a:xfrm>
              <a:off x="0" y="3617051"/>
              <a:ext cx="9272649" cy="7980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</a:pPr>
              <a:r>
                <a:rPr lang="en-US" sz="23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Convenience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Access property listings, comparisons, and management anytime, anywhere.</a:t>
              </a:r>
            </a:p>
            <a:p>
              <a:pPr algn="l">
                <a:lnSpc>
                  <a:spcPts val="3220"/>
                </a:lnSpc>
              </a:pPr>
              <a:endParaRPr lang="en-US" sz="23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algn="l">
                <a:lnSpc>
                  <a:spcPts val="3220"/>
                </a:lnSpc>
              </a:pPr>
              <a:r>
                <a:rPr lang="en-US" sz="23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Streamlined Process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One platform for buying, selling, renting, and maintaining property details.</a:t>
              </a:r>
            </a:p>
            <a:p>
              <a:pPr algn="l">
                <a:lnSpc>
                  <a:spcPts val="3220"/>
                </a:lnSpc>
              </a:pPr>
              <a:endParaRPr lang="en-US" sz="23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algn="l">
                <a:lnSpc>
                  <a:spcPts val="3220"/>
                </a:lnSpc>
              </a:pPr>
              <a:r>
                <a:rPr lang="en-US" sz="23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Property Management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Owners can easily upload images and update property information, view their listed properties</a:t>
              </a:r>
            </a:p>
            <a:p>
              <a:pPr algn="l">
                <a:lnSpc>
                  <a:spcPts val="3220"/>
                </a:lnSpc>
              </a:pPr>
              <a:endParaRPr lang="en-US" sz="23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algn="l">
                <a:lnSpc>
                  <a:spcPts val="3220"/>
                </a:lnSpc>
              </a:pPr>
              <a:r>
                <a:rPr lang="en-US" sz="23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Time-Saving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Skip the hassle of manual searches and in-person inquiries with online listings.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10951419" cy="3379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349"/>
                </a:lnSpc>
              </a:pPr>
              <a:r>
                <a:rPr lang="en-US" sz="8499">
                  <a:solidFill>
                    <a:srgbClr val="000000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Benefits Overview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1082" y="8078155"/>
            <a:ext cx="5840542" cy="2236463"/>
            <a:chOff x="0" y="0"/>
            <a:chExt cx="1538250" cy="5890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8250" cy="589027"/>
            </a:xfrm>
            <a:custGeom>
              <a:avLst/>
              <a:gdLst/>
              <a:ahLst/>
              <a:cxnLst/>
              <a:rect l="l" t="t" r="r" b="b"/>
              <a:pathLst>
                <a:path w="1538250" h="589027">
                  <a:moveTo>
                    <a:pt x="0" y="0"/>
                  </a:moveTo>
                  <a:lnTo>
                    <a:pt x="1538250" y="0"/>
                  </a:lnTo>
                  <a:lnTo>
                    <a:pt x="1538250" y="589027"/>
                  </a:lnTo>
                  <a:lnTo>
                    <a:pt x="0" y="589027"/>
                  </a:lnTo>
                  <a:close/>
                </a:path>
              </a:pathLst>
            </a:custGeom>
            <a:solidFill>
              <a:srgbClr val="0328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538250" cy="636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011624" y="8078155"/>
            <a:ext cx="2276376" cy="2208845"/>
            <a:chOff x="0" y="0"/>
            <a:chExt cx="599539" cy="5817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9539" cy="581753"/>
            </a:xfrm>
            <a:custGeom>
              <a:avLst/>
              <a:gdLst/>
              <a:ahLst/>
              <a:cxnLst/>
              <a:rect l="l" t="t" r="r" b="b"/>
              <a:pathLst>
                <a:path w="599539" h="581753">
                  <a:moveTo>
                    <a:pt x="0" y="0"/>
                  </a:moveTo>
                  <a:lnTo>
                    <a:pt x="599539" y="0"/>
                  </a:lnTo>
                  <a:lnTo>
                    <a:pt x="599539" y="581753"/>
                  </a:lnTo>
                  <a:lnTo>
                    <a:pt x="0" y="581753"/>
                  </a:lnTo>
                  <a:close/>
                </a:path>
              </a:pathLst>
            </a:custGeom>
            <a:solidFill>
              <a:srgbClr val="6DE1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9539" cy="619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220748" y="8253514"/>
            <a:ext cx="1858127" cy="1858127"/>
          </a:xfrm>
          <a:custGeom>
            <a:avLst/>
            <a:gdLst/>
            <a:ahLst/>
            <a:cxnLst/>
            <a:rect l="l" t="t" r="r" b="b"/>
            <a:pathLst>
              <a:path w="1858127" h="1858127">
                <a:moveTo>
                  <a:pt x="0" y="0"/>
                </a:moveTo>
                <a:lnTo>
                  <a:pt x="1858128" y="0"/>
                </a:lnTo>
                <a:lnTo>
                  <a:pt x="1858128" y="1858127"/>
                </a:lnTo>
                <a:lnTo>
                  <a:pt x="0" y="1858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-5400000">
            <a:off x="11607940" y="7099748"/>
            <a:ext cx="2966825" cy="5274356"/>
          </a:xfrm>
          <a:custGeom>
            <a:avLst/>
            <a:gdLst/>
            <a:ahLst/>
            <a:cxnLst/>
            <a:rect l="l" t="t" r="r" b="b"/>
            <a:pathLst>
              <a:path w="2966825" h="5274356">
                <a:moveTo>
                  <a:pt x="0" y="0"/>
                </a:moveTo>
                <a:lnTo>
                  <a:pt x="2966825" y="0"/>
                </a:lnTo>
                <a:lnTo>
                  <a:pt x="2966825" y="5274356"/>
                </a:lnTo>
                <a:lnTo>
                  <a:pt x="0" y="5274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0171082" y="0"/>
            <a:ext cx="8116918" cy="8078155"/>
          </a:xfrm>
          <a:custGeom>
            <a:avLst/>
            <a:gdLst/>
            <a:ahLst/>
            <a:cxnLst/>
            <a:rect l="l" t="t" r="r" b="b"/>
            <a:pathLst>
              <a:path w="8116918" h="8078155">
                <a:moveTo>
                  <a:pt x="0" y="0"/>
                </a:moveTo>
                <a:lnTo>
                  <a:pt x="8116918" y="0"/>
                </a:lnTo>
                <a:lnTo>
                  <a:pt x="8116918" y="8078155"/>
                </a:lnTo>
                <a:lnTo>
                  <a:pt x="0" y="8078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</a:blip>
            <a:stretch>
              <a:fillRect l="-69110" r="-860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0171082" y="-106959"/>
            <a:ext cx="8185114" cy="8185114"/>
          </a:xfrm>
          <a:custGeom>
            <a:avLst/>
            <a:gdLst/>
            <a:ahLst/>
            <a:cxnLst/>
            <a:rect l="l" t="t" r="r" b="b"/>
            <a:pathLst>
              <a:path w="8185114" h="8185114">
                <a:moveTo>
                  <a:pt x="0" y="0"/>
                </a:moveTo>
                <a:lnTo>
                  <a:pt x="8185114" y="0"/>
                </a:lnTo>
                <a:lnTo>
                  <a:pt x="8185114" y="8185114"/>
                </a:lnTo>
                <a:lnTo>
                  <a:pt x="0" y="81851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2031745" y="1928198"/>
            <a:ext cx="4463787" cy="4114800"/>
          </a:xfrm>
          <a:custGeom>
            <a:avLst/>
            <a:gdLst/>
            <a:ahLst/>
            <a:cxnLst/>
            <a:rect l="l" t="t" r="r" b="b"/>
            <a:pathLst>
              <a:path w="4463787" h="4114800">
                <a:moveTo>
                  <a:pt x="0" y="0"/>
                </a:moveTo>
                <a:lnTo>
                  <a:pt x="4463787" y="0"/>
                </a:lnTo>
                <a:lnTo>
                  <a:pt x="44637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1250523" y="537735"/>
            <a:ext cx="6680777" cy="8888813"/>
            <a:chOff x="0" y="-85725"/>
            <a:chExt cx="8907703" cy="11851750"/>
          </a:xfrm>
        </p:grpSpPr>
        <p:sp>
          <p:nvSpPr>
            <p:cNvPr id="14" name="TextBox 14"/>
            <p:cNvSpPr txBox="1"/>
            <p:nvPr/>
          </p:nvSpPr>
          <p:spPr>
            <a:xfrm>
              <a:off x="7583" y="3079472"/>
              <a:ext cx="7542219" cy="8686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40837" lvl="1" indent="-270418" algn="l">
                <a:lnSpc>
                  <a:spcPts val="3507"/>
                </a:lnSpc>
                <a:buFont typeface="Arial"/>
                <a:buChar char="•"/>
              </a:pPr>
              <a:r>
                <a:rPr lang="en-US" sz="2505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ASP.NET Core MVC</a:t>
              </a:r>
              <a:r>
                <a:rPr lang="en-US" sz="2505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: For building flexible &amp; high-performance web apps.</a:t>
              </a:r>
            </a:p>
            <a:p>
              <a:pPr marL="540837" lvl="1" indent="-270418" algn="l">
                <a:lnSpc>
                  <a:spcPts val="3507"/>
                </a:lnSpc>
                <a:buFont typeface="Arial"/>
                <a:buChar char="•"/>
              </a:pPr>
              <a:r>
                <a:rPr lang="en-US" sz="2505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Entity Framework Core</a:t>
              </a:r>
              <a:r>
                <a:rPr lang="en-US" sz="2505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: Facilitating seamless data access &amp; management.</a:t>
              </a:r>
            </a:p>
            <a:p>
              <a:pPr marL="540837" lvl="1" indent="-270418" algn="l">
                <a:lnSpc>
                  <a:spcPts val="3507"/>
                </a:lnSpc>
                <a:buFont typeface="Arial"/>
                <a:buChar char="•"/>
              </a:pPr>
              <a:r>
                <a:rPr lang="en-US" sz="2505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Azure Web App</a:t>
              </a:r>
              <a:r>
                <a:rPr lang="en-US" sz="2505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: Hosting web apps.</a:t>
              </a:r>
            </a:p>
            <a:p>
              <a:pPr marL="540837" lvl="1" indent="-270418" algn="l">
                <a:lnSpc>
                  <a:spcPts val="3507"/>
                </a:lnSpc>
                <a:buFont typeface="Arial"/>
                <a:buChar char="•"/>
              </a:pPr>
              <a:r>
                <a:rPr lang="en-US" sz="2505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Azure Blob Storage</a:t>
              </a:r>
              <a:r>
                <a:rPr lang="en-US" sz="2505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: Securely storing media assets.</a:t>
              </a:r>
            </a:p>
            <a:p>
              <a:pPr marL="540837" lvl="1" indent="-270418" algn="l">
                <a:lnSpc>
                  <a:spcPts val="3507"/>
                </a:lnSpc>
                <a:buFont typeface="Arial"/>
                <a:buChar char="•"/>
              </a:pPr>
              <a:r>
                <a:rPr lang="en-US" sz="2505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Azure SQL Database</a:t>
              </a:r>
              <a:r>
                <a:rPr lang="en-US" sz="2505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: Providing a Relational DBMS.</a:t>
              </a:r>
            </a:p>
            <a:p>
              <a:pPr marL="540837" lvl="1" indent="-270418" algn="l">
                <a:lnSpc>
                  <a:spcPts val="3507"/>
                </a:lnSpc>
                <a:buFont typeface="Arial"/>
                <a:buChar char="•"/>
              </a:pPr>
              <a:r>
                <a:rPr lang="en-US" sz="2505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Azure Logic App &amp; Azure Functions</a:t>
              </a:r>
              <a:r>
                <a:rPr lang="en-US" sz="2505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: Automating workflows and enabling serverless functions.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8907703" cy="3152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15"/>
                </a:lnSpc>
              </a:pPr>
              <a:r>
                <a:rPr lang="en-US" sz="7923">
                  <a:solidFill>
                    <a:srgbClr val="000000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Technologies Used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51661" y="6011903"/>
            <a:ext cx="1235672" cy="2182861"/>
            <a:chOff x="0" y="0"/>
            <a:chExt cx="580321" cy="1025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21" cy="1025159"/>
            </a:xfrm>
            <a:custGeom>
              <a:avLst/>
              <a:gdLst/>
              <a:ahLst/>
              <a:cxnLst/>
              <a:rect l="l" t="t" r="r" b="b"/>
              <a:pathLst>
                <a:path w="580321" h="1025159">
                  <a:moveTo>
                    <a:pt x="0" y="0"/>
                  </a:moveTo>
                  <a:lnTo>
                    <a:pt x="580321" y="0"/>
                  </a:lnTo>
                  <a:lnTo>
                    <a:pt x="580321" y="1025159"/>
                  </a:lnTo>
                  <a:lnTo>
                    <a:pt x="0" y="1025159"/>
                  </a:lnTo>
                  <a:close/>
                </a:path>
              </a:pathLst>
            </a:custGeom>
            <a:solidFill>
              <a:srgbClr val="4663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21" cy="107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13449" y="8194763"/>
            <a:ext cx="3373883" cy="2092237"/>
            <a:chOff x="0" y="0"/>
            <a:chExt cx="1584511" cy="9825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84511" cy="982599"/>
            </a:xfrm>
            <a:custGeom>
              <a:avLst/>
              <a:gdLst/>
              <a:ahLst/>
              <a:cxnLst/>
              <a:rect l="l" t="t" r="r" b="b"/>
              <a:pathLst>
                <a:path w="1584511" h="982599">
                  <a:moveTo>
                    <a:pt x="0" y="0"/>
                  </a:moveTo>
                  <a:lnTo>
                    <a:pt x="1584511" y="0"/>
                  </a:lnTo>
                  <a:lnTo>
                    <a:pt x="1584511" y="982599"/>
                  </a:lnTo>
                  <a:lnTo>
                    <a:pt x="0" y="982599"/>
                  </a:lnTo>
                  <a:close/>
                </a:path>
              </a:pathLst>
            </a:custGeom>
            <a:solidFill>
              <a:srgbClr val="6DE1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584511" cy="1030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5400000">
            <a:off x="15725076" y="7702185"/>
            <a:ext cx="1750629" cy="3112229"/>
          </a:xfrm>
          <a:custGeom>
            <a:avLst/>
            <a:gdLst/>
            <a:ahLst/>
            <a:cxnLst/>
            <a:rect l="l" t="t" r="r" b="b"/>
            <a:pathLst>
              <a:path w="1750629" h="3112229">
                <a:moveTo>
                  <a:pt x="0" y="0"/>
                </a:moveTo>
                <a:lnTo>
                  <a:pt x="1750629" y="0"/>
                </a:lnTo>
                <a:lnTo>
                  <a:pt x="1750629" y="3112230"/>
                </a:lnTo>
                <a:lnTo>
                  <a:pt x="0" y="3112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-5400000">
            <a:off x="14739669" y="-3548331"/>
            <a:ext cx="2538083" cy="4558578"/>
          </a:xfrm>
          <a:custGeom>
            <a:avLst/>
            <a:gdLst/>
            <a:ahLst/>
            <a:cxnLst/>
            <a:rect l="l" t="t" r="r" b="b"/>
            <a:pathLst>
              <a:path w="2538083" h="4558578">
                <a:moveTo>
                  <a:pt x="0" y="0"/>
                </a:moveTo>
                <a:lnTo>
                  <a:pt x="2538084" y="0"/>
                </a:lnTo>
                <a:lnTo>
                  <a:pt x="2538084" y="4558578"/>
                </a:lnTo>
                <a:lnTo>
                  <a:pt x="0" y="4558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7142189" y="6165898"/>
            <a:ext cx="1054614" cy="1874870"/>
          </a:xfrm>
          <a:custGeom>
            <a:avLst/>
            <a:gdLst/>
            <a:ahLst/>
            <a:cxnLst/>
            <a:rect l="l" t="t" r="r" b="b"/>
            <a:pathLst>
              <a:path w="1054614" h="1874870">
                <a:moveTo>
                  <a:pt x="0" y="0"/>
                </a:moveTo>
                <a:lnTo>
                  <a:pt x="1054615" y="0"/>
                </a:lnTo>
                <a:lnTo>
                  <a:pt x="1054615" y="1874870"/>
                </a:lnTo>
                <a:lnTo>
                  <a:pt x="0" y="18748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720580" y="2395246"/>
            <a:ext cx="13302647" cy="7233314"/>
          </a:xfrm>
          <a:custGeom>
            <a:avLst/>
            <a:gdLst/>
            <a:ahLst/>
            <a:cxnLst/>
            <a:rect l="l" t="t" r="r" b="b"/>
            <a:pathLst>
              <a:path w="13302647" h="7233314">
                <a:moveTo>
                  <a:pt x="0" y="0"/>
                </a:moveTo>
                <a:lnTo>
                  <a:pt x="13302647" y="0"/>
                </a:lnTo>
                <a:lnTo>
                  <a:pt x="13302647" y="7233314"/>
                </a:lnTo>
                <a:lnTo>
                  <a:pt x="0" y="72333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720580" y="501870"/>
            <a:ext cx="9586604" cy="1725257"/>
            <a:chOff x="0" y="0"/>
            <a:chExt cx="12782139" cy="230034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787687"/>
              <a:ext cx="12782139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Understanding the structure and relationships of our data model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12782139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250"/>
                </a:lnSpc>
              </a:pPr>
              <a:r>
                <a:rPr lang="en-US" sz="7500">
                  <a:solidFill>
                    <a:srgbClr val="000000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Entity-Relation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051661" y="1738401"/>
            <a:ext cx="1235672" cy="2182861"/>
            <a:chOff x="0" y="0"/>
            <a:chExt cx="580321" cy="102515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0321" cy="1025159"/>
            </a:xfrm>
            <a:custGeom>
              <a:avLst/>
              <a:gdLst/>
              <a:ahLst/>
              <a:cxnLst/>
              <a:rect l="l" t="t" r="r" b="b"/>
              <a:pathLst>
                <a:path w="580321" h="1025159">
                  <a:moveTo>
                    <a:pt x="0" y="0"/>
                  </a:moveTo>
                  <a:lnTo>
                    <a:pt x="580321" y="0"/>
                  </a:lnTo>
                  <a:lnTo>
                    <a:pt x="580321" y="1025159"/>
                  </a:lnTo>
                  <a:lnTo>
                    <a:pt x="0" y="1025159"/>
                  </a:lnTo>
                  <a:close/>
                </a:path>
              </a:pathLst>
            </a:custGeom>
            <a:solidFill>
              <a:srgbClr val="46638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580321" cy="107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142189" y="1892396"/>
            <a:ext cx="1054614" cy="1874870"/>
          </a:xfrm>
          <a:custGeom>
            <a:avLst/>
            <a:gdLst/>
            <a:ahLst/>
            <a:cxnLst/>
            <a:rect l="l" t="t" r="r" b="b"/>
            <a:pathLst>
              <a:path w="1054614" h="1874870">
                <a:moveTo>
                  <a:pt x="0" y="0"/>
                </a:moveTo>
                <a:lnTo>
                  <a:pt x="1054615" y="0"/>
                </a:lnTo>
                <a:lnTo>
                  <a:pt x="1054615" y="1874870"/>
                </a:lnTo>
                <a:lnTo>
                  <a:pt x="0" y="18748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14913449" y="3921262"/>
            <a:ext cx="3373883" cy="2092237"/>
            <a:chOff x="0" y="0"/>
            <a:chExt cx="1584511" cy="9825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84511" cy="982599"/>
            </a:xfrm>
            <a:custGeom>
              <a:avLst/>
              <a:gdLst/>
              <a:ahLst/>
              <a:cxnLst/>
              <a:rect l="l" t="t" r="r" b="b"/>
              <a:pathLst>
                <a:path w="1584511" h="982599">
                  <a:moveTo>
                    <a:pt x="0" y="0"/>
                  </a:moveTo>
                  <a:lnTo>
                    <a:pt x="1584511" y="0"/>
                  </a:lnTo>
                  <a:lnTo>
                    <a:pt x="1584511" y="982599"/>
                  </a:lnTo>
                  <a:lnTo>
                    <a:pt x="0" y="982599"/>
                  </a:lnTo>
                  <a:close/>
                </a:path>
              </a:pathLst>
            </a:custGeom>
            <a:solidFill>
              <a:srgbClr val="2C4B7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584511" cy="1030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-5400000">
            <a:off x="15725076" y="3428684"/>
            <a:ext cx="1750629" cy="3112229"/>
          </a:xfrm>
          <a:custGeom>
            <a:avLst/>
            <a:gdLst/>
            <a:ahLst/>
            <a:cxnLst/>
            <a:rect l="l" t="t" r="r" b="b"/>
            <a:pathLst>
              <a:path w="1750629" h="3112229">
                <a:moveTo>
                  <a:pt x="0" y="0"/>
                </a:moveTo>
                <a:lnTo>
                  <a:pt x="1750629" y="0"/>
                </a:lnTo>
                <a:lnTo>
                  <a:pt x="1750629" y="3112229"/>
                </a:lnTo>
                <a:lnTo>
                  <a:pt x="0" y="31122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3" name="Group 23"/>
          <p:cNvGrpSpPr/>
          <p:nvPr/>
        </p:nvGrpSpPr>
        <p:grpSpPr>
          <a:xfrm>
            <a:off x="15481462" y="-1595"/>
            <a:ext cx="2805870" cy="1739996"/>
            <a:chOff x="0" y="0"/>
            <a:chExt cx="1584511" cy="98259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84511" cy="982599"/>
            </a:xfrm>
            <a:custGeom>
              <a:avLst/>
              <a:gdLst/>
              <a:ahLst/>
              <a:cxnLst/>
              <a:rect l="l" t="t" r="r" b="b"/>
              <a:pathLst>
                <a:path w="1584511" h="982599">
                  <a:moveTo>
                    <a:pt x="0" y="0"/>
                  </a:moveTo>
                  <a:lnTo>
                    <a:pt x="1584511" y="0"/>
                  </a:lnTo>
                  <a:lnTo>
                    <a:pt x="1584511" y="982599"/>
                  </a:lnTo>
                  <a:lnTo>
                    <a:pt x="0" y="982599"/>
                  </a:lnTo>
                  <a:close/>
                </a:path>
              </a:pathLst>
            </a:custGeom>
            <a:solidFill>
              <a:srgbClr val="6DE1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584511" cy="1030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5400000">
            <a:off x="16156447" y="-411245"/>
            <a:ext cx="1455900" cy="2588267"/>
          </a:xfrm>
          <a:custGeom>
            <a:avLst/>
            <a:gdLst/>
            <a:ahLst/>
            <a:cxnLst/>
            <a:rect l="l" t="t" r="r" b="b"/>
            <a:pathLst>
              <a:path w="1455900" h="2588267">
                <a:moveTo>
                  <a:pt x="0" y="0"/>
                </a:moveTo>
                <a:lnTo>
                  <a:pt x="1455900" y="0"/>
                </a:lnTo>
                <a:lnTo>
                  <a:pt x="1455900" y="2588267"/>
                </a:lnTo>
                <a:lnTo>
                  <a:pt x="0" y="2588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78446" y="8104139"/>
            <a:ext cx="1235672" cy="2182861"/>
            <a:chOff x="0" y="0"/>
            <a:chExt cx="580321" cy="1025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21" cy="1025159"/>
            </a:xfrm>
            <a:custGeom>
              <a:avLst/>
              <a:gdLst/>
              <a:ahLst/>
              <a:cxnLst/>
              <a:rect l="l" t="t" r="r" b="b"/>
              <a:pathLst>
                <a:path w="580321" h="1025159">
                  <a:moveTo>
                    <a:pt x="0" y="0"/>
                  </a:moveTo>
                  <a:lnTo>
                    <a:pt x="580321" y="0"/>
                  </a:lnTo>
                  <a:lnTo>
                    <a:pt x="580321" y="1025159"/>
                  </a:lnTo>
                  <a:lnTo>
                    <a:pt x="0" y="1025159"/>
                  </a:lnTo>
                  <a:close/>
                </a:path>
              </a:pathLst>
            </a:custGeom>
            <a:solidFill>
              <a:srgbClr val="0328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21" cy="107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678446" y="-75200"/>
            <a:ext cx="5791800" cy="8229600"/>
          </a:xfrm>
          <a:custGeom>
            <a:avLst/>
            <a:gdLst/>
            <a:ahLst/>
            <a:cxnLst/>
            <a:rect l="l" t="t" r="r" b="b"/>
            <a:pathLst>
              <a:path w="5791800" h="8229600">
                <a:moveTo>
                  <a:pt x="0" y="0"/>
                </a:moveTo>
                <a:lnTo>
                  <a:pt x="5791800" y="0"/>
                </a:lnTo>
                <a:lnTo>
                  <a:pt x="57918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7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10800000">
            <a:off x="13677778" y="0"/>
            <a:ext cx="4609554" cy="8194763"/>
          </a:xfrm>
          <a:custGeom>
            <a:avLst/>
            <a:gdLst/>
            <a:ahLst/>
            <a:cxnLst/>
            <a:rect l="l" t="t" r="r" b="b"/>
            <a:pathLst>
              <a:path w="4609554" h="8194763">
                <a:moveTo>
                  <a:pt x="0" y="0"/>
                </a:moveTo>
                <a:lnTo>
                  <a:pt x="4609554" y="0"/>
                </a:lnTo>
                <a:lnTo>
                  <a:pt x="4609554" y="8194763"/>
                </a:lnTo>
                <a:lnTo>
                  <a:pt x="0" y="81947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4913449" y="8194763"/>
            <a:ext cx="3373883" cy="2092237"/>
            <a:chOff x="0" y="0"/>
            <a:chExt cx="1584511" cy="9825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84511" cy="982599"/>
            </a:xfrm>
            <a:custGeom>
              <a:avLst/>
              <a:gdLst/>
              <a:ahLst/>
              <a:cxnLst/>
              <a:rect l="l" t="t" r="r" b="b"/>
              <a:pathLst>
                <a:path w="1584511" h="982599">
                  <a:moveTo>
                    <a:pt x="0" y="0"/>
                  </a:moveTo>
                  <a:lnTo>
                    <a:pt x="1584511" y="0"/>
                  </a:lnTo>
                  <a:lnTo>
                    <a:pt x="1584511" y="982599"/>
                  </a:lnTo>
                  <a:lnTo>
                    <a:pt x="0" y="982599"/>
                  </a:lnTo>
                  <a:close/>
                </a:path>
              </a:pathLst>
            </a:custGeom>
            <a:solidFill>
              <a:srgbClr val="2C4B7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584511" cy="1030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5400000">
            <a:off x="15725076" y="7702185"/>
            <a:ext cx="1750629" cy="3112229"/>
          </a:xfrm>
          <a:custGeom>
            <a:avLst/>
            <a:gdLst/>
            <a:ahLst/>
            <a:cxnLst/>
            <a:rect l="l" t="t" r="r" b="b"/>
            <a:pathLst>
              <a:path w="1750629" h="3112229">
                <a:moveTo>
                  <a:pt x="0" y="0"/>
                </a:moveTo>
                <a:lnTo>
                  <a:pt x="1750629" y="0"/>
                </a:lnTo>
                <a:lnTo>
                  <a:pt x="1750629" y="3112230"/>
                </a:lnTo>
                <a:lnTo>
                  <a:pt x="0" y="31122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 rot="-5400000">
            <a:off x="14739669" y="-3548331"/>
            <a:ext cx="2538083" cy="4558578"/>
          </a:xfrm>
          <a:custGeom>
            <a:avLst/>
            <a:gdLst/>
            <a:ahLst/>
            <a:cxnLst/>
            <a:rect l="l" t="t" r="r" b="b"/>
            <a:pathLst>
              <a:path w="2538083" h="4558578">
                <a:moveTo>
                  <a:pt x="0" y="0"/>
                </a:moveTo>
                <a:lnTo>
                  <a:pt x="2538084" y="0"/>
                </a:lnTo>
                <a:lnTo>
                  <a:pt x="2538084" y="4558578"/>
                </a:lnTo>
                <a:lnTo>
                  <a:pt x="0" y="4558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3783303" y="8305223"/>
            <a:ext cx="1054614" cy="1874870"/>
          </a:xfrm>
          <a:custGeom>
            <a:avLst/>
            <a:gdLst/>
            <a:ahLst/>
            <a:cxnLst/>
            <a:rect l="l" t="t" r="r" b="b"/>
            <a:pathLst>
              <a:path w="1054614" h="1874870">
                <a:moveTo>
                  <a:pt x="0" y="0"/>
                </a:moveTo>
                <a:lnTo>
                  <a:pt x="1054614" y="0"/>
                </a:lnTo>
                <a:lnTo>
                  <a:pt x="1054614" y="1874870"/>
                </a:lnTo>
                <a:lnTo>
                  <a:pt x="0" y="18748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3367364" y="3775933"/>
            <a:ext cx="9369646" cy="7980921"/>
          </a:xfrm>
          <a:custGeom>
            <a:avLst/>
            <a:gdLst/>
            <a:ahLst/>
            <a:cxnLst/>
            <a:rect l="l" t="t" r="r" b="b"/>
            <a:pathLst>
              <a:path w="9369646" h="7980921">
                <a:moveTo>
                  <a:pt x="0" y="0"/>
                </a:moveTo>
                <a:lnTo>
                  <a:pt x="9369646" y="0"/>
                </a:lnTo>
                <a:lnTo>
                  <a:pt x="9369646" y="7980921"/>
                </a:lnTo>
                <a:lnTo>
                  <a:pt x="0" y="79809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2316" b="-231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4" name="Group 14"/>
          <p:cNvGrpSpPr/>
          <p:nvPr/>
        </p:nvGrpSpPr>
        <p:grpSpPr>
          <a:xfrm>
            <a:off x="807422" y="641463"/>
            <a:ext cx="9586604" cy="1725257"/>
            <a:chOff x="0" y="0"/>
            <a:chExt cx="12782139" cy="230034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787687"/>
              <a:ext cx="12782139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</a:pPr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2782139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250"/>
                </a:lnSpc>
              </a:pPr>
              <a:r>
                <a:rPr lang="en-US" sz="7500">
                  <a:solidFill>
                    <a:srgbClr val="000000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Entity-Relation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4739669" y="-3548331"/>
            <a:ext cx="2538083" cy="4558578"/>
          </a:xfrm>
          <a:custGeom>
            <a:avLst/>
            <a:gdLst/>
            <a:ahLst/>
            <a:cxnLst/>
            <a:rect l="l" t="t" r="r" b="b"/>
            <a:pathLst>
              <a:path w="2538083" h="4558578">
                <a:moveTo>
                  <a:pt x="0" y="0"/>
                </a:moveTo>
                <a:lnTo>
                  <a:pt x="2538084" y="0"/>
                </a:lnTo>
                <a:lnTo>
                  <a:pt x="2538084" y="4558578"/>
                </a:lnTo>
                <a:lnTo>
                  <a:pt x="0" y="4558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400024" y="1892322"/>
            <a:ext cx="17347585" cy="8195625"/>
          </a:xfrm>
          <a:custGeom>
            <a:avLst/>
            <a:gdLst/>
            <a:ahLst/>
            <a:cxnLst/>
            <a:rect l="l" t="t" r="r" b="b"/>
            <a:pathLst>
              <a:path w="17347585" h="8195625">
                <a:moveTo>
                  <a:pt x="0" y="0"/>
                </a:moveTo>
                <a:lnTo>
                  <a:pt x="17347585" y="0"/>
                </a:lnTo>
                <a:lnTo>
                  <a:pt x="17347585" y="8195625"/>
                </a:lnTo>
                <a:lnTo>
                  <a:pt x="0" y="8195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</a:blip>
            <a:stretch>
              <a:fillRect l="-32951" t="-1581" r="-26845" b="-158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400025" y="1892322"/>
            <a:ext cx="17347584" cy="8195625"/>
          </a:xfrm>
          <a:custGeom>
            <a:avLst/>
            <a:gdLst/>
            <a:ahLst/>
            <a:cxnLst/>
            <a:rect l="l" t="t" r="r" b="b"/>
            <a:pathLst>
              <a:path w="16718909" h="7565306">
                <a:moveTo>
                  <a:pt x="0" y="0"/>
                </a:moveTo>
                <a:lnTo>
                  <a:pt x="16718910" y="0"/>
                </a:lnTo>
                <a:lnTo>
                  <a:pt x="16718910" y="7565306"/>
                </a:lnTo>
                <a:lnTo>
                  <a:pt x="0" y="7565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612004" y="482224"/>
            <a:ext cx="9586604" cy="1725257"/>
            <a:chOff x="0" y="0"/>
            <a:chExt cx="12782139" cy="2300343"/>
          </a:xfrm>
        </p:grpSpPr>
        <p:sp>
          <p:nvSpPr>
            <p:cNvPr id="6" name="TextBox 6"/>
            <p:cNvSpPr txBox="1"/>
            <p:nvPr/>
          </p:nvSpPr>
          <p:spPr>
            <a:xfrm>
              <a:off x="0" y="1787687"/>
              <a:ext cx="12782139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</a:pPr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2782139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250"/>
                </a:lnSpc>
              </a:pPr>
              <a:r>
                <a:rPr lang="en-US" sz="7500">
                  <a:solidFill>
                    <a:srgbClr val="000000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Architecture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1082" y="8078155"/>
            <a:ext cx="5840542" cy="2236463"/>
            <a:chOff x="0" y="0"/>
            <a:chExt cx="1538250" cy="5890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8250" cy="589027"/>
            </a:xfrm>
            <a:custGeom>
              <a:avLst/>
              <a:gdLst/>
              <a:ahLst/>
              <a:cxnLst/>
              <a:rect l="l" t="t" r="r" b="b"/>
              <a:pathLst>
                <a:path w="1538250" h="589027">
                  <a:moveTo>
                    <a:pt x="0" y="0"/>
                  </a:moveTo>
                  <a:lnTo>
                    <a:pt x="1538250" y="0"/>
                  </a:lnTo>
                  <a:lnTo>
                    <a:pt x="1538250" y="589027"/>
                  </a:lnTo>
                  <a:lnTo>
                    <a:pt x="0" y="589027"/>
                  </a:lnTo>
                  <a:close/>
                </a:path>
              </a:pathLst>
            </a:custGeom>
            <a:solidFill>
              <a:srgbClr val="6DE1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538250" cy="636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011624" y="8078155"/>
            <a:ext cx="2276376" cy="2208845"/>
            <a:chOff x="0" y="0"/>
            <a:chExt cx="599539" cy="5817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9539" cy="581753"/>
            </a:xfrm>
            <a:custGeom>
              <a:avLst/>
              <a:gdLst/>
              <a:ahLst/>
              <a:cxnLst/>
              <a:rect l="l" t="t" r="r" b="b"/>
              <a:pathLst>
                <a:path w="599539" h="581753">
                  <a:moveTo>
                    <a:pt x="0" y="0"/>
                  </a:moveTo>
                  <a:lnTo>
                    <a:pt x="599539" y="0"/>
                  </a:lnTo>
                  <a:lnTo>
                    <a:pt x="599539" y="581753"/>
                  </a:lnTo>
                  <a:lnTo>
                    <a:pt x="0" y="581753"/>
                  </a:lnTo>
                  <a:close/>
                </a:path>
              </a:pathLst>
            </a:custGeom>
            <a:solidFill>
              <a:srgbClr val="6DE1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9539" cy="619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09845" y="0"/>
            <a:ext cx="8078155" cy="8078155"/>
            <a:chOff x="0" y="0"/>
            <a:chExt cx="1251518" cy="12515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1518" cy="1251518"/>
            </a:xfrm>
            <a:custGeom>
              <a:avLst/>
              <a:gdLst/>
              <a:ahLst/>
              <a:cxnLst/>
              <a:rect l="l" t="t" r="r" b="b"/>
              <a:pathLst>
                <a:path w="1251518" h="1251518">
                  <a:moveTo>
                    <a:pt x="0" y="0"/>
                  </a:moveTo>
                  <a:lnTo>
                    <a:pt x="1251518" y="0"/>
                  </a:lnTo>
                  <a:lnTo>
                    <a:pt x="1251518" y="1251518"/>
                  </a:lnTo>
                  <a:lnTo>
                    <a:pt x="0" y="1251518"/>
                  </a:lnTo>
                  <a:close/>
                </a:path>
              </a:pathLst>
            </a:custGeom>
            <a:blipFill>
              <a:blip r:embed="rId2"/>
              <a:stretch>
                <a:fillRect l="-25046" r="-250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220748" y="8253514"/>
            <a:ext cx="1858127" cy="1858127"/>
          </a:xfrm>
          <a:custGeom>
            <a:avLst/>
            <a:gdLst/>
            <a:ahLst/>
            <a:cxnLst/>
            <a:rect l="l" t="t" r="r" b="b"/>
            <a:pathLst>
              <a:path w="1858127" h="1858127">
                <a:moveTo>
                  <a:pt x="0" y="0"/>
                </a:moveTo>
                <a:lnTo>
                  <a:pt x="1858128" y="0"/>
                </a:lnTo>
                <a:lnTo>
                  <a:pt x="1858128" y="1858127"/>
                </a:lnTo>
                <a:lnTo>
                  <a:pt x="0" y="1858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 rot="-5400000">
            <a:off x="11607940" y="7099748"/>
            <a:ext cx="2966825" cy="5274356"/>
          </a:xfrm>
          <a:custGeom>
            <a:avLst/>
            <a:gdLst/>
            <a:ahLst/>
            <a:cxnLst/>
            <a:rect l="l" t="t" r="r" b="b"/>
            <a:pathLst>
              <a:path w="2966825" h="5274356">
                <a:moveTo>
                  <a:pt x="0" y="0"/>
                </a:moveTo>
                <a:lnTo>
                  <a:pt x="2966825" y="0"/>
                </a:lnTo>
                <a:lnTo>
                  <a:pt x="2966825" y="5274356"/>
                </a:lnTo>
                <a:lnTo>
                  <a:pt x="0" y="5274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0156366" y="-106959"/>
            <a:ext cx="8185114" cy="8185114"/>
          </a:xfrm>
          <a:custGeom>
            <a:avLst/>
            <a:gdLst/>
            <a:ahLst/>
            <a:cxnLst/>
            <a:rect l="l" t="t" r="r" b="b"/>
            <a:pathLst>
              <a:path w="8185114" h="8185114">
                <a:moveTo>
                  <a:pt x="0" y="0"/>
                </a:moveTo>
                <a:lnTo>
                  <a:pt x="8185113" y="0"/>
                </a:lnTo>
                <a:lnTo>
                  <a:pt x="8185113" y="8185114"/>
                </a:lnTo>
                <a:lnTo>
                  <a:pt x="0" y="81851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028700" y="4317751"/>
            <a:ext cx="7019083" cy="3864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802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Role based access to the web app</a:t>
            </a:r>
            <a:endParaRPr lang="en-US" sz="2700"/>
          </a:p>
          <a:p>
            <a:pPr marL="457200" indent="-457200" algn="l">
              <a:lnSpc>
                <a:spcPts val="3802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Add, edit and view properties</a:t>
            </a:r>
            <a:endParaRPr lang="en-US" sz="2700" b="1">
              <a:solidFill>
                <a:srgbClr val="FFFFFF"/>
              </a:solidFill>
              <a:latin typeface="Rubik Bold"/>
              <a:ea typeface="Rubik Bold"/>
              <a:cs typeface="Rubik Bold"/>
            </a:endParaRPr>
          </a:p>
          <a:p>
            <a:pPr marL="457200" indent="-457200" algn="l">
              <a:lnSpc>
                <a:spcPts val="3802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Filter properties based on different parameters</a:t>
            </a:r>
            <a:endParaRPr lang="en-US" sz="2700" b="1">
              <a:solidFill>
                <a:srgbClr val="FFFFFF"/>
              </a:solidFill>
              <a:latin typeface="Rubik Bold"/>
              <a:ea typeface="Rubik Bold"/>
              <a:cs typeface="Rubik Bold"/>
            </a:endParaRPr>
          </a:p>
          <a:p>
            <a:pPr marL="457200" indent="-457200" algn="l">
              <a:lnSpc>
                <a:spcPts val="3802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Add and delete properties to cart</a:t>
            </a:r>
            <a:endParaRPr lang="en-US" sz="2700" b="1">
              <a:solidFill>
                <a:srgbClr val="FFFFFF"/>
              </a:solidFill>
              <a:latin typeface="Rubik Bold"/>
              <a:ea typeface="Rubik Bold"/>
              <a:cs typeface="Rubik Bold"/>
            </a:endParaRPr>
          </a:p>
          <a:p>
            <a:pPr marL="457200" indent="-457200" algn="l">
              <a:lnSpc>
                <a:spcPts val="3802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View cart items</a:t>
            </a:r>
            <a:endParaRPr lang="en-US" sz="2700" b="1">
              <a:solidFill>
                <a:srgbClr val="FFFFFF"/>
              </a:solidFill>
              <a:latin typeface="Rubik Bold"/>
              <a:ea typeface="Rubik Bold"/>
              <a:cs typeface="Rubik Bold"/>
            </a:endParaRPr>
          </a:p>
          <a:p>
            <a:pPr marL="457200" indent="-457200" algn="l">
              <a:lnSpc>
                <a:spcPts val="3802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Can validate or invalidate a property</a:t>
            </a:r>
            <a:endParaRPr lang="en-US" sz="2700" b="1">
              <a:solidFill>
                <a:srgbClr val="FFFFFF"/>
              </a:solidFill>
              <a:latin typeface="Rubik Bold"/>
              <a:ea typeface="Rubik Bold"/>
              <a:cs typeface="Rubik Bold"/>
            </a:endParaRPr>
          </a:p>
          <a:p>
            <a:pPr marL="457200" indent="-457200" algn="l">
              <a:lnSpc>
                <a:spcPts val="3802"/>
              </a:lnSpc>
              <a:buFont typeface="Arial"/>
              <a:buChar char="•"/>
            </a:pPr>
            <a:endParaRPr lang="en-US" sz="2716" b="1">
              <a:solidFill>
                <a:srgbClr val="FFFFFF"/>
              </a:solidFill>
              <a:latin typeface="Rubik Bold"/>
              <a:ea typeface="Rubik Bold"/>
              <a:cs typeface="Rubik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1543050"/>
            <a:ext cx="7019083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49"/>
              </a:lnSpc>
            </a:pPr>
            <a:r>
              <a:rPr lang="en-US" sz="8499">
                <a:solidFill>
                  <a:srgbClr val="FFFFF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Key Features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667639"/>
            <a:ext cx="20354002" cy="1238721"/>
            <a:chOff x="0" y="0"/>
            <a:chExt cx="27138669" cy="165162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6786209" cy="1651628"/>
              <a:chOff x="0" y="0"/>
              <a:chExt cx="2390308" cy="58175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390308" cy="581753"/>
              </a:xfrm>
              <a:custGeom>
                <a:avLst/>
                <a:gdLst/>
                <a:ahLst/>
                <a:cxnLst/>
                <a:rect l="l" t="t" r="r" b="b"/>
                <a:pathLst>
                  <a:path w="2390308" h="581753">
                    <a:moveTo>
                      <a:pt x="0" y="0"/>
                    </a:moveTo>
                    <a:lnTo>
                      <a:pt x="2390308" y="0"/>
                    </a:lnTo>
                    <a:lnTo>
                      <a:pt x="2390308" y="581753"/>
                    </a:lnTo>
                    <a:lnTo>
                      <a:pt x="0" y="581753"/>
                    </a:lnTo>
                    <a:close/>
                  </a:path>
                </a:pathLst>
              </a:custGeom>
              <a:solidFill>
                <a:srgbClr val="2C4B73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2390308" cy="6293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671241" y="125455"/>
              <a:ext cx="1400718" cy="1400718"/>
            </a:xfrm>
            <a:custGeom>
              <a:avLst/>
              <a:gdLst/>
              <a:ahLst/>
              <a:cxnLst/>
              <a:rect l="l" t="t" r="r" b="b"/>
              <a:pathLst>
                <a:path w="1400718" h="1400718">
                  <a:moveTo>
                    <a:pt x="0" y="0"/>
                  </a:moveTo>
                  <a:lnTo>
                    <a:pt x="1400718" y="0"/>
                  </a:lnTo>
                  <a:lnTo>
                    <a:pt x="1400718" y="1400718"/>
                  </a:lnTo>
                  <a:lnTo>
                    <a:pt x="0" y="1400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 rot="-5400000">
              <a:off x="4631401" y="-419268"/>
              <a:ext cx="1400718" cy="2490165"/>
            </a:xfrm>
            <a:custGeom>
              <a:avLst/>
              <a:gdLst/>
              <a:ahLst/>
              <a:cxnLst/>
              <a:rect l="l" t="t" r="r" b="b"/>
              <a:pathLst>
                <a:path w="1400718" h="2490165">
                  <a:moveTo>
                    <a:pt x="0" y="0"/>
                  </a:moveTo>
                  <a:lnTo>
                    <a:pt x="1400718" y="0"/>
                  </a:lnTo>
                  <a:lnTo>
                    <a:pt x="1400718" y="2490165"/>
                  </a:lnTo>
                  <a:lnTo>
                    <a:pt x="0" y="249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6786209" y="0"/>
              <a:ext cx="6786209" cy="1651628"/>
              <a:chOff x="0" y="0"/>
              <a:chExt cx="2390308" cy="58175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390308" cy="581753"/>
              </a:xfrm>
              <a:custGeom>
                <a:avLst/>
                <a:gdLst/>
                <a:ahLst/>
                <a:cxnLst/>
                <a:rect l="l" t="t" r="r" b="b"/>
                <a:pathLst>
                  <a:path w="2390308" h="581753">
                    <a:moveTo>
                      <a:pt x="0" y="0"/>
                    </a:moveTo>
                    <a:lnTo>
                      <a:pt x="2390308" y="0"/>
                    </a:lnTo>
                    <a:lnTo>
                      <a:pt x="2390308" y="581753"/>
                    </a:lnTo>
                    <a:lnTo>
                      <a:pt x="0" y="581753"/>
                    </a:lnTo>
                    <a:close/>
                  </a:path>
                </a:pathLst>
              </a:custGeom>
              <a:solidFill>
                <a:srgbClr val="2C4B73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390308" cy="6293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7457450" y="125455"/>
              <a:ext cx="1400718" cy="1400718"/>
            </a:xfrm>
            <a:custGeom>
              <a:avLst/>
              <a:gdLst/>
              <a:ahLst/>
              <a:cxnLst/>
              <a:rect l="l" t="t" r="r" b="b"/>
              <a:pathLst>
                <a:path w="1400718" h="1400718">
                  <a:moveTo>
                    <a:pt x="0" y="0"/>
                  </a:moveTo>
                  <a:lnTo>
                    <a:pt x="1400718" y="0"/>
                  </a:lnTo>
                  <a:lnTo>
                    <a:pt x="1400718" y="1400718"/>
                  </a:lnTo>
                  <a:lnTo>
                    <a:pt x="0" y="1400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 rot="-5400000">
              <a:off x="11417610" y="-419268"/>
              <a:ext cx="1400718" cy="2490165"/>
            </a:xfrm>
            <a:custGeom>
              <a:avLst/>
              <a:gdLst/>
              <a:ahLst/>
              <a:cxnLst/>
              <a:rect l="l" t="t" r="r" b="b"/>
              <a:pathLst>
                <a:path w="1400718" h="2490165">
                  <a:moveTo>
                    <a:pt x="0" y="0"/>
                  </a:moveTo>
                  <a:lnTo>
                    <a:pt x="1400718" y="0"/>
                  </a:lnTo>
                  <a:lnTo>
                    <a:pt x="1400718" y="2490165"/>
                  </a:lnTo>
                  <a:lnTo>
                    <a:pt x="0" y="249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3572418" y="0"/>
              <a:ext cx="6786209" cy="1651628"/>
              <a:chOff x="0" y="0"/>
              <a:chExt cx="2390308" cy="58175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390308" cy="581753"/>
              </a:xfrm>
              <a:custGeom>
                <a:avLst/>
                <a:gdLst/>
                <a:ahLst/>
                <a:cxnLst/>
                <a:rect l="l" t="t" r="r" b="b"/>
                <a:pathLst>
                  <a:path w="2390308" h="581753">
                    <a:moveTo>
                      <a:pt x="0" y="0"/>
                    </a:moveTo>
                    <a:lnTo>
                      <a:pt x="2390308" y="0"/>
                    </a:lnTo>
                    <a:lnTo>
                      <a:pt x="2390308" y="581753"/>
                    </a:lnTo>
                    <a:lnTo>
                      <a:pt x="0" y="581753"/>
                    </a:lnTo>
                    <a:close/>
                  </a:path>
                </a:pathLst>
              </a:custGeom>
              <a:solidFill>
                <a:srgbClr val="2C4B73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2390308" cy="6293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4243659" y="122017"/>
              <a:ext cx="1400718" cy="1400718"/>
            </a:xfrm>
            <a:custGeom>
              <a:avLst/>
              <a:gdLst/>
              <a:ahLst/>
              <a:cxnLst/>
              <a:rect l="l" t="t" r="r" b="b"/>
              <a:pathLst>
                <a:path w="1400718" h="1400718">
                  <a:moveTo>
                    <a:pt x="0" y="0"/>
                  </a:moveTo>
                  <a:lnTo>
                    <a:pt x="1400718" y="0"/>
                  </a:lnTo>
                  <a:lnTo>
                    <a:pt x="1400718" y="1400718"/>
                  </a:lnTo>
                  <a:lnTo>
                    <a:pt x="0" y="1400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 rot="-5400000">
              <a:off x="18203819" y="-422707"/>
              <a:ext cx="1400718" cy="2490165"/>
            </a:xfrm>
            <a:custGeom>
              <a:avLst/>
              <a:gdLst/>
              <a:ahLst/>
              <a:cxnLst/>
              <a:rect l="l" t="t" r="r" b="b"/>
              <a:pathLst>
                <a:path w="1400718" h="2490165">
                  <a:moveTo>
                    <a:pt x="0" y="0"/>
                  </a:moveTo>
                  <a:lnTo>
                    <a:pt x="1400718" y="0"/>
                  </a:lnTo>
                  <a:lnTo>
                    <a:pt x="1400718" y="2490166"/>
                  </a:lnTo>
                  <a:lnTo>
                    <a:pt x="0" y="2490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20352460" y="0"/>
              <a:ext cx="6786209" cy="1651628"/>
              <a:chOff x="0" y="0"/>
              <a:chExt cx="2390308" cy="58175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390308" cy="581753"/>
              </a:xfrm>
              <a:custGeom>
                <a:avLst/>
                <a:gdLst/>
                <a:ahLst/>
                <a:cxnLst/>
                <a:rect l="l" t="t" r="r" b="b"/>
                <a:pathLst>
                  <a:path w="2390308" h="581753">
                    <a:moveTo>
                      <a:pt x="0" y="0"/>
                    </a:moveTo>
                    <a:lnTo>
                      <a:pt x="2390308" y="0"/>
                    </a:lnTo>
                    <a:lnTo>
                      <a:pt x="2390308" y="581753"/>
                    </a:lnTo>
                    <a:lnTo>
                      <a:pt x="0" y="581753"/>
                    </a:lnTo>
                    <a:close/>
                  </a:path>
                </a:pathLst>
              </a:custGeom>
              <a:solidFill>
                <a:srgbClr val="2C4B73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390308" cy="6293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1023701" y="122017"/>
              <a:ext cx="1400718" cy="1400718"/>
            </a:xfrm>
            <a:custGeom>
              <a:avLst/>
              <a:gdLst/>
              <a:ahLst/>
              <a:cxnLst/>
              <a:rect l="l" t="t" r="r" b="b"/>
              <a:pathLst>
                <a:path w="1400718" h="1400718">
                  <a:moveTo>
                    <a:pt x="0" y="0"/>
                  </a:moveTo>
                  <a:lnTo>
                    <a:pt x="1400718" y="0"/>
                  </a:lnTo>
                  <a:lnTo>
                    <a:pt x="1400718" y="1400718"/>
                  </a:lnTo>
                  <a:lnTo>
                    <a:pt x="0" y="1400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998820" y="381000"/>
            <a:ext cx="9902362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50"/>
              </a:lnSpc>
            </a:pPr>
            <a:r>
              <a:rPr lang="en-US" sz="7500">
                <a:solidFill>
                  <a:srgbClr val="00000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Web App Homepage</a:t>
            </a: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7867BC-1693-4E91-BDAA-370009B2C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1720" y="1761631"/>
            <a:ext cx="12242868" cy="7696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1082" y="8078155"/>
            <a:ext cx="5840542" cy="2236463"/>
            <a:chOff x="0" y="0"/>
            <a:chExt cx="1538250" cy="5890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8250" cy="589027"/>
            </a:xfrm>
            <a:custGeom>
              <a:avLst/>
              <a:gdLst/>
              <a:ahLst/>
              <a:cxnLst/>
              <a:rect l="l" t="t" r="r" b="b"/>
              <a:pathLst>
                <a:path w="1538250" h="589027">
                  <a:moveTo>
                    <a:pt x="0" y="0"/>
                  </a:moveTo>
                  <a:lnTo>
                    <a:pt x="1538250" y="0"/>
                  </a:lnTo>
                  <a:lnTo>
                    <a:pt x="1538250" y="589027"/>
                  </a:lnTo>
                  <a:lnTo>
                    <a:pt x="0" y="589027"/>
                  </a:lnTo>
                  <a:close/>
                </a:path>
              </a:pathLst>
            </a:custGeom>
            <a:solidFill>
              <a:srgbClr val="6DE1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538250" cy="636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011624" y="8078155"/>
            <a:ext cx="2276376" cy="2208845"/>
            <a:chOff x="0" y="0"/>
            <a:chExt cx="599539" cy="5817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9539" cy="581753"/>
            </a:xfrm>
            <a:custGeom>
              <a:avLst/>
              <a:gdLst/>
              <a:ahLst/>
              <a:cxnLst/>
              <a:rect l="l" t="t" r="r" b="b"/>
              <a:pathLst>
                <a:path w="599539" h="581753">
                  <a:moveTo>
                    <a:pt x="0" y="0"/>
                  </a:moveTo>
                  <a:lnTo>
                    <a:pt x="599539" y="0"/>
                  </a:lnTo>
                  <a:lnTo>
                    <a:pt x="599539" y="581753"/>
                  </a:lnTo>
                  <a:lnTo>
                    <a:pt x="0" y="581753"/>
                  </a:lnTo>
                  <a:close/>
                </a:path>
              </a:pathLst>
            </a:custGeom>
            <a:solidFill>
              <a:srgbClr val="92A0B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9539" cy="619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09845" y="0"/>
            <a:ext cx="8078155" cy="8078155"/>
            <a:chOff x="0" y="0"/>
            <a:chExt cx="1251518" cy="12515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1518" cy="1251518"/>
            </a:xfrm>
            <a:custGeom>
              <a:avLst/>
              <a:gdLst/>
              <a:ahLst/>
              <a:cxnLst/>
              <a:rect l="l" t="t" r="r" b="b"/>
              <a:pathLst>
                <a:path w="1251518" h="1251518">
                  <a:moveTo>
                    <a:pt x="0" y="0"/>
                  </a:moveTo>
                  <a:lnTo>
                    <a:pt x="1251518" y="0"/>
                  </a:lnTo>
                  <a:lnTo>
                    <a:pt x="1251518" y="1251518"/>
                  </a:lnTo>
                  <a:lnTo>
                    <a:pt x="0" y="1251518"/>
                  </a:lnTo>
                  <a:close/>
                </a:path>
              </a:pathLst>
            </a:custGeom>
            <a:blipFill>
              <a:blip r:embed="rId2"/>
              <a:stretch>
                <a:fillRect l="-27369" r="-2736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220748" y="8253514"/>
            <a:ext cx="1858127" cy="1858127"/>
          </a:xfrm>
          <a:custGeom>
            <a:avLst/>
            <a:gdLst/>
            <a:ahLst/>
            <a:cxnLst/>
            <a:rect l="l" t="t" r="r" b="b"/>
            <a:pathLst>
              <a:path w="1858127" h="1858127">
                <a:moveTo>
                  <a:pt x="0" y="0"/>
                </a:moveTo>
                <a:lnTo>
                  <a:pt x="1858128" y="0"/>
                </a:lnTo>
                <a:lnTo>
                  <a:pt x="1858128" y="1858127"/>
                </a:lnTo>
                <a:lnTo>
                  <a:pt x="0" y="1858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 rot="-5400000">
            <a:off x="12060801" y="6646888"/>
            <a:ext cx="2061104" cy="5274356"/>
          </a:xfrm>
          <a:custGeom>
            <a:avLst/>
            <a:gdLst/>
            <a:ahLst/>
            <a:cxnLst/>
            <a:rect l="l" t="t" r="r" b="b"/>
            <a:pathLst>
              <a:path w="2966825" h="5274356">
                <a:moveTo>
                  <a:pt x="0" y="0"/>
                </a:moveTo>
                <a:lnTo>
                  <a:pt x="2966825" y="0"/>
                </a:lnTo>
                <a:lnTo>
                  <a:pt x="2966825" y="5274356"/>
                </a:lnTo>
                <a:lnTo>
                  <a:pt x="0" y="5274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0171082" y="-53479"/>
            <a:ext cx="8185114" cy="8185114"/>
          </a:xfrm>
          <a:custGeom>
            <a:avLst/>
            <a:gdLst/>
            <a:ahLst/>
            <a:cxnLst/>
            <a:rect l="l" t="t" r="r" b="b"/>
            <a:pathLst>
              <a:path w="8185114" h="8185114">
                <a:moveTo>
                  <a:pt x="0" y="0"/>
                </a:moveTo>
                <a:lnTo>
                  <a:pt x="8185114" y="0"/>
                </a:lnTo>
                <a:lnTo>
                  <a:pt x="8185114" y="8185113"/>
                </a:lnTo>
                <a:lnTo>
                  <a:pt x="0" y="81851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028700" y="3717676"/>
            <a:ext cx="8115300" cy="4995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4396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Adding government-issued document validation for buyer, seller and properties</a:t>
            </a:r>
            <a:endParaRPr lang="en-US">
              <a:latin typeface="Rubik"/>
              <a:ea typeface="Calibri"/>
              <a:cs typeface="Calibri"/>
            </a:endParaRPr>
          </a:p>
          <a:p>
            <a:pPr marL="457200" indent="-457200" algn="l">
              <a:lnSpc>
                <a:spcPts val="4396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Geo-location tagging for properties</a:t>
            </a:r>
            <a:endParaRPr lang="en-US" sz="3100">
              <a:solidFill>
                <a:srgbClr val="000000"/>
              </a:solidFill>
              <a:latin typeface="Rubik"/>
              <a:ea typeface="Rubik"/>
              <a:cs typeface="Rubik"/>
            </a:endParaRPr>
          </a:p>
          <a:p>
            <a:pPr marL="457200" indent="-457200" algn="l">
              <a:lnSpc>
                <a:spcPts val="4396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Chat functionality between buyers and sellers</a:t>
            </a:r>
            <a:endParaRPr lang="en-US" sz="3100">
              <a:solidFill>
                <a:srgbClr val="000000"/>
              </a:solidFill>
              <a:latin typeface="Rubik"/>
              <a:ea typeface="Rubik"/>
              <a:cs typeface="Rubik"/>
            </a:endParaRPr>
          </a:p>
          <a:p>
            <a:pPr marL="457200" indent="-457200" algn="l">
              <a:lnSpc>
                <a:spcPts val="4396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Compare property details</a:t>
            </a:r>
            <a:endParaRPr lang="en-US" sz="3100">
              <a:solidFill>
                <a:srgbClr val="000000"/>
              </a:solidFill>
              <a:latin typeface="Rubik"/>
              <a:ea typeface="Rubik"/>
              <a:cs typeface="Rubik"/>
            </a:endParaRPr>
          </a:p>
          <a:p>
            <a:pPr marL="457200" indent="-457200" algn="l">
              <a:lnSpc>
                <a:spcPts val="4396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Adding a payment gateway for cart</a:t>
            </a:r>
            <a:endParaRPr lang="en-US" sz="3100">
              <a:solidFill>
                <a:srgbClr val="000000"/>
              </a:solidFill>
              <a:latin typeface="Rubik"/>
              <a:ea typeface="Rubik"/>
              <a:cs typeface="Rubik"/>
            </a:endParaRPr>
          </a:p>
          <a:p>
            <a:pPr marL="457200" indent="-457200" algn="l">
              <a:lnSpc>
                <a:spcPts val="4396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Deleting properties and accounts</a:t>
            </a:r>
            <a:endParaRPr lang="en-US" sz="3100">
              <a:solidFill>
                <a:srgbClr val="000000"/>
              </a:solidFill>
              <a:latin typeface="Rubik"/>
              <a:ea typeface="Rubik"/>
              <a:cs typeface="Rubik"/>
            </a:endParaRPr>
          </a:p>
          <a:p>
            <a:pPr algn="l">
              <a:lnSpc>
                <a:spcPts val="4396"/>
              </a:lnSpc>
            </a:pPr>
            <a:endParaRPr lang="en-US" sz="3100">
              <a:solidFill>
                <a:srgbClr val="000000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942975"/>
            <a:ext cx="6133971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49"/>
              </a:lnSpc>
            </a:pPr>
            <a:r>
              <a:rPr lang="en-US" sz="8499">
                <a:solidFill>
                  <a:srgbClr val="00000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Future Scope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304007"/>
            <a:ext cx="8629650" cy="5982993"/>
            <a:chOff x="0" y="0"/>
            <a:chExt cx="1950378" cy="1352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0378" cy="1352210"/>
            </a:xfrm>
            <a:custGeom>
              <a:avLst/>
              <a:gdLst/>
              <a:ahLst/>
              <a:cxnLst/>
              <a:rect l="l" t="t" r="r" b="b"/>
              <a:pathLst>
                <a:path w="1950378" h="1352210">
                  <a:moveTo>
                    <a:pt x="0" y="0"/>
                  </a:moveTo>
                  <a:lnTo>
                    <a:pt x="1950378" y="0"/>
                  </a:lnTo>
                  <a:lnTo>
                    <a:pt x="1950378" y="1352210"/>
                  </a:lnTo>
                  <a:lnTo>
                    <a:pt x="0" y="1352210"/>
                  </a:lnTo>
                  <a:close/>
                </a:path>
              </a:pathLst>
            </a:custGeom>
            <a:solidFill>
              <a:srgbClr val="4FC56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50378" cy="1390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4700405" y="-170039"/>
            <a:ext cx="3587595" cy="4642770"/>
          </a:xfrm>
          <a:custGeom>
            <a:avLst/>
            <a:gdLst/>
            <a:ahLst/>
            <a:cxnLst/>
            <a:rect l="l" t="t" r="r" b="b"/>
            <a:pathLst>
              <a:path w="3587595" h="4642770">
                <a:moveTo>
                  <a:pt x="0" y="0"/>
                </a:moveTo>
                <a:lnTo>
                  <a:pt x="3587595" y="0"/>
                </a:lnTo>
                <a:lnTo>
                  <a:pt x="3587595" y="4642770"/>
                </a:lnTo>
                <a:lnTo>
                  <a:pt x="0" y="4642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9658350" y="4304007"/>
            <a:ext cx="8629650" cy="5982993"/>
            <a:chOff x="0" y="0"/>
            <a:chExt cx="1950378" cy="13522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0378" cy="1352210"/>
            </a:xfrm>
            <a:custGeom>
              <a:avLst/>
              <a:gdLst/>
              <a:ahLst/>
              <a:cxnLst/>
              <a:rect l="l" t="t" r="r" b="b"/>
              <a:pathLst>
                <a:path w="1950378" h="1352210">
                  <a:moveTo>
                    <a:pt x="0" y="0"/>
                  </a:moveTo>
                  <a:lnTo>
                    <a:pt x="1950378" y="0"/>
                  </a:lnTo>
                  <a:lnTo>
                    <a:pt x="1950378" y="1352210"/>
                  </a:lnTo>
                  <a:lnTo>
                    <a:pt x="0" y="1352210"/>
                  </a:lnTo>
                  <a:close/>
                </a:path>
              </a:pathLst>
            </a:custGeom>
            <a:solidFill>
              <a:srgbClr val="2C4B7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50378" cy="1390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91" y="5521224"/>
            <a:ext cx="16258241" cy="4200046"/>
          </a:xfrm>
          <a:prstGeom prst="rect">
            <a:avLst/>
          </a:prstGeom>
        </p:spPr>
      </p:pic>
      <p:sp>
        <p:nvSpPr>
          <p:cNvPr id="10" name="Freeform 10"/>
          <p:cNvSpPr/>
          <p:nvPr/>
        </p:nvSpPr>
        <p:spPr>
          <a:xfrm>
            <a:off x="-100740" y="4304007"/>
            <a:ext cx="1129440" cy="5982993"/>
          </a:xfrm>
          <a:custGeom>
            <a:avLst/>
            <a:gdLst/>
            <a:ahLst/>
            <a:cxnLst/>
            <a:rect l="l" t="t" r="r" b="b"/>
            <a:pathLst>
              <a:path w="1129440" h="5982993">
                <a:moveTo>
                  <a:pt x="0" y="0"/>
                </a:moveTo>
                <a:lnTo>
                  <a:pt x="1129440" y="0"/>
                </a:lnTo>
                <a:lnTo>
                  <a:pt x="1129440" y="5982993"/>
                </a:lnTo>
                <a:lnTo>
                  <a:pt x="0" y="59829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9797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028700" y="1403827"/>
            <a:ext cx="13576077" cy="1878925"/>
            <a:chOff x="0" y="0"/>
            <a:chExt cx="18101436" cy="2505234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926537"/>
              <a:ext cx="18101436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r>
                <a:rPr lang="en-US" sz="2599">
                  <a:solidFill>
                    <a:srgbClr val="86FF95"/>
                  </a:solidFill>
                  <a:latin typeface="Rubik"/>
                  <a:ea typeface="Rubik"/>
                  <a:cs typeface="Rubik"/>
                  <a:sym typeface="Rubik"/>
                </a:rPr>
                <a:t>Visit us at our web application for more information.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18101436" cy="1748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19"/>
                </a:lnSpc>
              </a:pPr>
              <a:r>
                <a:rPr lang="en-US" sz="8199">
                  <a:solidFill>
                    <a:srgbClr val="FFFFFF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Thank You!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12244" y="4707213"/>
            <a:ext cx="14572100" cy="1403436"/>
            <a:chOff x="0" y="0"/>
            <a:chExt cx="19429467" cy="1871248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85725"/>
              <a:ext cx="7506252" cy="1913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43"/>
                </a:lnSpc>
                <a:spcBef>
                  <a:spcPct val="0"/>
                </a:spcBef>
              </a:pPr>
              <a:r>
                <a:rPr lang="en-US" sz="4173" b="1">
                  <a:solidFill>
                    <a:srgbClr val="2C4B73"/>
                  </a:solidFill>
                  <a:latin typeface="Rubik Bold"/>
                  <a:ea typeface="Rubik Bold"/>
                  <a:cs typeface="Rubik Bold"/>
                  <a:sym typeface="Rubik Bold"/>
                </a:rPr>
                <a:t>WEB APPLICATION URL: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38260" y="879650"/>
              <a:ext cx="11191207" cy="991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12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554137" y="9043352"/>
            <a:ext cx="4223029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-1066800" y="7242151"/>
            <a:ext cx="19659600" cy="619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hlinkClick r:id="rId7"/>
              </a:rPr>
              <a:t>https://ezhousinginstance-a0gyh3f3ceb9dec7.eastus2-01.azurewebsites.net/</a:t>
            </a:r>
            <a:endParaRPr lang="en-US" sz="250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Easy Housing Solution</dc:title>
  <dc:creator>Rathore, Nikhil Pratap Singh</dc:creator>
  <dc:description>Presentation - Easy Housing Solution</dc:description>
  <cp:revision>1</cp:revision>
  <dcterms:created xsi:type="dcterms:W3CDTF">2006-08-16T00:00:00Z</dcterms:created>
  <dcterms:modified xsi:type="dcterms:W3CDTF">2025-08-26T05:29:00Z</dcterms:modified>
  <dc:identifier>DAGxEom_QBI</dc:identifier>
</cp:coreProperties>
</file>